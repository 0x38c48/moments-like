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79789cad3d4e92" /><Relationship Type="http://schemas.openxmlformats.org/officeDocument/2006/relationships/extended-properties" Target="/docProps/app.xml" Id="R7c2e33cc453c4462" /><Relationship Type="http://schemas.openxmlformats.org/officeDocument/2006/relationships/officeDocument" Target="/ppt/presentation.xml" Id="Rc5253c35c76c4f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a1c9978bba4538"/>
  </p:sldMasterIdLst>
  <p:notesMasterIdLst>
    <p:notesMasterId xmlns:r="http://schemas.openxmlformats.org/officeDocument/2006/relationships" r:id="R87974df4cf7a47fb"/>
  </p:notesMasterIdLst>
  <p:sldIdLst>
    <p:sldId xmlns:r="http://schemas.openxmlformats.org/officeDocument/2006/relationships" id="256" r:id="Rb7fa84186bbb4f8b"/>
    <p:sldId xmlns:r="http://schemas.openxmlformats.org/officeDocument/2006/relationships" id="257" r:id="R57cd7a02092f4904"/>
    <p:sldId xmlns:r="http://schemas.openxmlformats.org/officeDocument/2006/relationships" id="258" r:id="R9a1fc8e34b6a42c5"/>
    <p:sldId xmlns:r="http://schemas.openxmlformats.org/officeDocument/2006/relationships" id="259" r:id="R0b137279176f4598"/>
    <p:sldId xmlns:r="http://schemas.openxmlformats.org/officeDocument/2006/relationships" id="260" r:id="R3c5ba690ee3749ff"/>
    <p:sldId xmlns:r="http://schemas.openxmlformats.org/officeDocument/2006/relationships" id="261" r:id="R373c4e081bbc40ef"/>
    <p:sldId xmlns:r="http://schemas.openxmlformats.org/officeDocument/2006/relationships" id="262" r:id="Rb36f965be1474d2c"/>
    <p:sldId xmlns:r="http://schemas.openxmlformats.org/officeDocument/2006/relationships" id="263" r:id="R145bfd750b2d4948"/>
    <p:sldId xmlns:r="http://schemas.openxmlformats.org/officeDocument/2006/relationships" id="264" r:id="R1a334899717c422a"/>
    <p:sldId xmlns:r="http://schemas.openxmlformats.org/officeDocument/2006/relationships" id="265" r:id="R0ee3751a367a41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4b147984cd44c6" /><Relationship Type="http://schemas.openxmlformats.org/officeDocument/2006/relationships/slideMaster" Target="/ppt/slideMasters/slideMaster1.xml" Id="R83a1c9978bba4538" /><Relationship Type="http://schemas.openxmlformats.org/officeDocument/2006/relationships/notesMaster" Target="/ppt/notesMasters/notesMaster1.xml" Id="R87974df4cf7a47fb" /><Relationship Type="http://schemas.openxmlformats.org/officeDocument/2006/relationships/presProps" Target="/ppt/presProps.xml" Id="R5d4f1d9ed6ef491a" /><Relationship Type="http://schemas.openxmlformats.org/officeDocument/2006/relationships/tableStyles" Target="/ppt/tableStyles.xml" Id="R065fa3213cc04657" /><Relationship Type="http://schemas.openxmlformats.org/officeDocument/2006/relationships/slide" Target="/ppt/slides/slide1.xml" Id="Rb7fa84186bbb4f8b" /><Relationship Type="http://schemas.openxmlformats.org/officeDocument/2006/relationships/slide" Target="/ppt/slides/slide2.xml" Id="R57cd7a02092f4904" /><Relationship Type="http://schemas.openxmlformats.org/officeDocument/2006/relationships/slide" Target="/ppt/slides/slide3.xml" Id="R9a1fc8e34b6a42c5" /><Relationship Type="http://schemas.openxmlformats.org/officeDocument/2006/relationships/slide" Target="/ppt/slides/slide4.xml" Id="R0b137279176f4598" /><Relationship Type="http://schemas.openxmlformats.org/officeDocument/2006/relationships/slide" Target="/ppt/slides/slide5.xml" Id="R3c5ba690ee3749ff" /><Relationship Type="http://schemas.openxmlformats.org/officeDocument/2006/relationships/slide" Target="/ppt/slides/slide6.xml" Id="R373c4e081bbc40ef" /><Relationship Type="http://schemas.openxmlformats.org/officeDocument/2006/relationships/slide" Target="/ppt/slides/slide7.xml" Id="Rb36f965be1474d2c" /><Relationship Type="http://schemas.openxmlformats.org/officeDocument/2006/relationships/slide" Target="/ppt/slides/slide8.xml" Id="R145bfd750b2d4948" /><Relationship Type="http://schemas.openxmlformats.org/officeDocument/2006/relationships/slide" Target="/ppt/slides/slide9.xml" Id="R1a334899717c422a" /><Relationship Type="http://schemas.openxmlformats.org/officeDocument/2006/relationships/slide" Target="/ppt/slides/slide10.xml" Id="R0ee3751a367a41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e6abf372b442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d5266412db4e14" /><Relationship Type="http://schemas.openxmlformats.org/officeDocument/2006/relationships/notesMaster" Target="/ppt/notesMasters/notesMaster1.xml" Id="R40c3c9d4910647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8c157943d440a1" /><Relationship Type="http://schemas.openxmlformats.org/officeDocument/2006/relationships/notesMaster" Target="/ppt/notesMasters/notesMaster1.xml" Id="Recac7b16efb04c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a8543242bf47c4" /><Relationship Type="http://schemas.openxmlformats.org/officeDocument/2006/relationships/notesMaster" Target="/ppt/notesMasters/notesMaster1.xml" Id="Rd6013a1f49ba4e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e8cde9bb1b4c11" /><Relationship Type="http://schemas.openxmlformats.org/officeDocument/2006/relationships/notesMaster" Target="/ppt/notesMasters/notesMaster1.xml" Id="Re0b22a0f356044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d6b091dc864777" /><Relationship Type="http://schemas.openxmlformats.org/officeDocument/2006/relationships/notesMaster" Target="/ppt/notesMasters/notesMaster1.xml" Id="R646cd37f2bee4e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5dd3f72a7c461c" /><Relationship Type="http://schemas.openxmlformats.org/officeDocument/2006/relationships/notesMaster" Target="/ppt/notesMasters/notesMaster1.xml" Id="R405200f4f1bd4f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880eee8b9f48f3" /><Relationship Type="http://schemas.openxmlformats.org/officeDocument/2006/relationships/notesMaster" Target="/ppt/notesMasters/notesMaster1.xml" Id="Ra2d32f37e0a244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73cc50af374bcf" /><Relationship Type="http://schemas.openxmlformats.org/officeDocument/2006/relationships/notesMaster" Target="/ppt/notesMasters/notesMaster1.xml" Id="Rdd9a209464734b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8dc5a06f6a14853" /><Relationship Type="http://schemas.openxmlformats.org/officeDocument/2006/relationships/notesMaster" Target="/ppt/notesMasters/notesMaster1.xml" Id="Rbd195b300c0d47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7a5ec0f38d4887" /><Relationship Type="http://schemas.openxmlformats.org/officeDocument/2006/relationships/notesMaster" Target="/ppt/notesMasters/notesMaster1.xml" Id="Re494a6c8b1b241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课程要求来自 数据库课程设计题目及要求-2026.pptx 第3-7页。</a:t>
            </a:r>
          </a:p>
          <a:p xmlns:a="http://schemas.openxmlformats.org/drawingml/2006/main">
            <a:r>
              <a:t>系统信息来自 README.md、docs/design.md、sql/01_schema_mysql.sql。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课程评分点来自 数据库课程设计题目及要求-2026.pptx 第5页、第7页。</a:t>
            </a:r>
          </a:p>
          <a:p xmlns:a="http://schemas.openxmlformats.org/drawingml/2006/main">
            <a:r>
              <a:t>数据库数量和数据量来自本机 MySQL wechat_course_design 实测查询。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需求模块来自 docs/design.md 第3节和 README.md 课堂演示流程。</a:t>
            </a:r>
          </a:p>
          <a:p xmlns:a="http://schemas.openxmlformats.org/drawingml/2006/main">
            <a:r>
              <a:t>题目方向参考 数据库课程设计题目及要求-2026.pptx 第19页。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功能点来自 frontend/index.html、frontend/app.js、backend/api_server.py 当前实现。</a:t>
            </a:r>
          </a:p>
          <a:p xmlns:a="http://schemas.openxmlformats.org/drawingml/2006/main">
            <a:r>
              <a:t>服务验证基于 2026-08-27 本机接口检查结果。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ER 图与表说明来自 docs/design.md 第6节、第7节。</a:t>
            </a:r>
          </a:p>
          <a:p xmlns:a="http://schemas.openxmlformats.org/drawingml/2006/main">
            <a:r>
              <a:t>表结构来自 sql/01_schema_mysql.sql。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数据库对象数量来自 sql/01_schema_mysql.sql 的 CREATE TABLE/VIEW/PROCEDURE/TRIGGER 和索引扫描。</a:t>
            </a:r>
          </a:p>
          <a:p xmlns:a="http://schemas.openxmlformats.org/drawingml/2006/main">
            <a:r>
              <a:t>课程要求数据库连接、SQL、完整性约束、索引、视图、触发器、存储过程来自要求 PPT 第4页。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架构说明来自 README.md 目录结构与启动说明。</a:t>
            </a:r>
          </a:p>
          <a:p xmlns:a="http://schemas.openxmlformats.org/drawingml/2006/main">
            <a:r>
              <a:t>数据库连接配置来自 db_config.py。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验证数据来自 2026-08-27 本机接口检查：/api/health、/api/auth/login、/api/conversations、/api/messages、/api/statistics、/api/users/search。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优化判断基于要求 PPT 第7页评分项和当前项目验证结果。</a:t>
            </a:r>
          </a:p>
          <a:p xmlns:a="http://schemas.openxmlformats.org/drawingml/2006/main">
            <a:r>
              <a:t>安全与分页建议属于课程展示外的工程优化项。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演示路线参考 README.md 课堂演示流程，并结合本机接口验证结果微调。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d95dd26cd04f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60b6a399224710" /><Relationship Type="http://schemas.openxmlformats.org/officeDocument/2006/relationships/slideLayout" Target="/ppt/slideLayouts/slideLayout1.xml" Id="Ra05130f902a441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5130f902a441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e7f73cbbb4749" /><Relationship Type="http://schemas.openxmlformats.org/officeDocument/2006/relationships/image" Target="/ppt/media/image.png" Id="R0845cb39b8494894" /><Relationship Type="http://schemas.openxmlformats.org/officeDocument/2006/relationships/notesSlide" Target="/ppt/notesSlides/notesSlide1.xml" Id="Rfd3f8e732c1642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4897eb8ef482b" /><Relationship Type="http://schemas.openxmlformats.org/officeDocument/2006/relationships/notesSlide" Target="/ppt/notesSlides/notesSlide2.xml" Id="Rd9b7bb1e80434d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4a402862e42ed" /><Relationship Type="http://schemas.openxmlformats.org/officeDocument/2006/relationships/notesSlide" Target="/ppt/notesSlides/notesSlide3.xml" Id="Rd9430c1458a745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cce3e57d34ee5" /><Relationship Type="http://schemas.openxmlformats.org/officeDocument/2006/relationships/notesSlide" Target="/ppt/notesSlides/notesSlide4.xml" Id="R2b2d7731cfb143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9041adec2e44ca" /><Relationship Type="http://schemas.openxmlformats.org/officeDocument/2006/relationships/notesSlide" Target="/ppt/notesSlides/notesSlide5.xml" Id="R3591affc271b48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42daf2338e431f" /><Relationship Type="http://schemas.openxmlformats.org/officeDocument/2006/relationships/notesSlide" Target="/ppt/notesSlides/notesSlide6.xml" Id="Rc7b7573db53b46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6c17007ce44a0" /><Relationship Type="http://schemas.openxmlformats.org/officeDocument/2006/relationships/notesSlide" Target="/ppt/notesSlides/notesSlide7.xml" Id="R1b156ac0971341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f1966721b4f37" /><Relationship Type="http://schemas.openxmlformats.org/officeDocument/2006/relationships/notesSlide" Target="/ppt/notesSlides/notesSlide8.xml" Id="R760d39d2e81f42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82314df584657" /><Relationship Type="http://schemas.openxmlformats.org/officeDocument/2006/relationships/notesSlide" Target="/ppt/notesSlides/notesSlide9.xml" Id="R87c75ceff97346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0bb53690fc4e83" /><Relationship Type="http://schemas.openxmlformats.org/officeDocument/2006/relationships/notesSlide" Target="/ppt/notesSlides/notesSlide10.xml" Id="R8b69af36275643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5cb39b849489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685800"/>
            <a:ext cx="1066800" cy="1066800"/>
          </a:xfrm>
          <a:prstGeom xmlns:a="http://schemas.openxmlformats.org/drawingml/2006/main" prst="roundRect">
            <a:avLst>
              <a:gd name="adj" fmla="val 14286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F30DD-D711-4673-9D7E-031B6C7D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6286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20618"/>
                </a:solidFill>
              </a:defRPr>
            </a:pPr>
            <a:r>
              <a:rPr sz="3750" b="1">
                <a:solidFill>
                  <a:srgbClr val="020618"/>
                </a:solidFill>
              </a:rPr>
              <a:t>微信式资料与朋友圈</a:t>
            </a:r>
          </a:p>
          <a:p xmlns:a="http://schemas.openxmlformats.org/drawingml/2006/main">
            <a:pPr>
              <a:defRPr sz="3750" b="1">
                <a:solidFill>
                  <a:srgbClr val="020618"/>
                </a:solidFill>
              </a:defRPr>
            </a:pPr>
            <a:r>
              <a:rPr sz="3750" b="1">
                <a:solidFill>
                  <a:srgbClr val="020618"/>
                </a:solidFill>
              </a:rPr>
              <a:t>管理系统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C3FD7-21DD-4378-9BC7-EFEE3A95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5556C"/>
                </a:solidFill>
              </a:defRPr>
            </a:pPr>
            <a:r>
              <a:rPr sz="1800" b="0">
                <a:solidFill>
                  <a:srgbClr val="45556C"/>
                </a:solidFill>
              </a:rPr>
              <a:t>数据库课程设计汇报 / Python Flask + MySQL + 前后端分离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0F057-64D2-416E-BABE-FF8D5E73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19150"/>
            <a:ext cx="3695700" cy="41910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CBD414-C23D-45AB-9BF2-92D79F20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2192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20618"/>
                </a:solidFill>
              </a:defRPr>
            </a:pPr>
            <a:r>
              <a:rPr sz="1800" b="1">
                <a:solidFill>
                  <a:srgbClr val="020618"/>
                </a:solidFill>
              </a:rPr>
              <a:t>汇报主线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F58D76-CC97-46B4-A0AB-BE1F4EB8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85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E191B7-BF2B-4987-8579-5E443FE0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09750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先对照课程评分点核验达标情况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A8E8D-A0F7-4FEA-8528-B5423ED7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38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49C489-1D7F-45DB-A137-321854B6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再展示系统模块与数据库设计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65FE42-2827-4645-ABE8-739F3416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90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939DC0-B0C2-4FDE-B350-D7212071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914650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最后给出演示路线和优化余量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94EA58-802D-4E28-BC27-5F6AC3FD5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0A1B9"/>
                </a:solidFill>
              </a:defRPr>
            </a:pPr>
            <a:r>
              <a:rPr sz="1350" b="0">
                <a:solidFill>
                  <a:srgbClr val="90A1B9"/>
                </a:solidFill>
              </a:rPr>
              <a:t>题目选择：35 微博/朋友圈方向的扩展实现</a:t>
            </a:r>
          </a:p>
        </p:txBody>
      </p:sp>
    </p:spTree>
    <p:extLst>
      <p:ext uri="{BB962C8B-B14F-4D97-AF65-F5344CB8AC3E}">
        <p14:creationId xmlns:p14="http://schemas.microsoft.com/office/powerpoint/2010/main" val="104782863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2A5742-5E0F-4A04-A6E3-18A54728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0A1B9"/>
                </a:solidFill>
              </a:defRPr>
            </a:pPr>
            <a:r>
              <a:rPr sz="1050" b="1">
                <a:solidFill>
                  <a:srgbClr val="90A1B9"/>
                </a:solidFill>
              </a:rPr>
              <a:t>REQUIREMENT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117CF1-7EDC-494B-9C4B-4880CE91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819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原 PPT 评分点对照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F6BA44-9C31-4EFD-AC22-A02FCCC6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当前系统已经覆盖课程要求，主要建议集中在汇报材料和演示账号选择。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6E9492-C3EE-4EFA-BFC3-B68F0547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AD3E78-8DBE-4FD0-B3AF-277C5C65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10820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3C658C-80AC-48CD-B745-269692BE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20618"/>
                </a:solidFill>
              </a:defRPr>
            </a:pPr>
            <a:r>
              <a:rPr sz="1275" b="1">
                <a:solidFill>
                  <a:srgbClr val="020618"/>
                </a:solidFill>
              </a:rPr>
              <a:t>主流 DBMS / 推荐 MySQL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3C3687-2E66-462D-ADC7-E7691411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621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BC7D"/>
                </a:solidFill>
              </a:defRPr>
            </a:pPr>
            <a:r>
              <a:rPr sz="1275" b="1">
                <a:solidFill>
                  <a:srgbClr val="00BC7D"/>
                </a:solidFill>
              </a:rPr>
              <a:t>已满足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0C4081-344D-416A-8572-15EE64A8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621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强制使用 MySQL，默认 nonfor / 523399，库名 wechat_course_design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8F118C-4CCE-442A-B80D-21FA18E2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820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5D632-7304-4C93-9A15-88758D79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20618"/>
                </a:solidFill>
              </a:defRPr>
            </a:pPr>
            <a:r>
              <a:rPr sz="1275" b="1">
                <a:solidFill>
                  <a:srgbClr val="020618"/>
                </a:solidFill>
              </a:rPr>
              <a:t>高级程序设计语言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D23091-2D30-466E-9574-5F00D1A4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765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BC7D"/>
                </a:solidFill>
              </a:defRPr>
            </a:pPr>
            <a:r>
              <a:rPr sz="1275" b="1">
                <a:solidFill>
                  <a:srgbClr val="00BC7D"/>
                </a:solidFill>
              </a:rPr>
              <a:t>已满足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E9860-0194-4B61-B506-D857E419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765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Python Flask 后端通过 PyMySQL 连接数据库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543C0B-57CD-4360-AF9E-320A9BD4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0820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F65390-6B4B-4CD6-9DA6-3863078B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20618"/>
                </a:solidFill>
              </a:defRPr>
            </a:pPr>
            <a:r>
              <a:rPr sz="1275" b="1">
                <a:solidFill>
                  <a:srgbClr val="020618"/>
                </a:solidFill>
              </a:rPr>
              <a:t>不少于 5 张数据表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A1AB60-E0AE-4D79-BA82-13FAFD02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90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A6F4"/>
                </a:solidFill>
              </a:defRPr>
            </a:pPr>
            <a:r>
              <a:rPr sz="1275" b="1">
                <a:solidFill>
                  <a:srgbClr val="00A6F4"/>
                </a:solidFill>
              </a:rPr>
              <a:t>超额满足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8BCEC7-120C-4C25-8216-056627C4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9908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当前 14 张业务表，覆盖用户、好友、会话、消息、朋友圈等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35C1E4-362A-465B-8AE9-061546E6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820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86F601-E57B-4BD9-8C16-A6054AD9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20618"/>
                </a:solidFill>
              </a:defRPr>
            </a:pPr>
            <a:r>
              <a:rPr sz="1275" b="1">
                <a:solidFill>
                  <a:srgbClr val="020618"/>
                </a:solidFill>
              </a:rPr>
              <a:t>ER 图与逻辑设计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EA0470-DDFD-45D3-9C4D-D951D58B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052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BC7D"/>
                </a:solidFill>
              </a:defRPr>
            </a:pPr>
            <a:r>
              <a:rPr sz="1275" b="1">
                <a:solidFill>
                  <a:srgbClr val="00BC7D"/>
                </a:solidFill>
              </a:rPr>
              <a:t>已满足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2477E9-BD06-4E42-B12D-23AE01AF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5052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docs/design.md 已给出 Mermaid ER 图和主要关系模式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B4ED59-011C-41BF-9088-32014237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10820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282ADB-E927-4367-80D5-61D98705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20618"/>
                </a:solidFill>
              </a:defRPr>
            </a:pPr>
            <a:r>
              <a:rPr sz="1275" b="1">
                <a:solidFill>
                  <a:srgbClr val="020618"/>
                </a:solidFill>
              </a:rPr>
              <a:t>完整业务流程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77C321-7A72-4961-BCB9-801A8C6C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195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BC7D"/>
                </a:solidFill>
              </a:defRPr>
            </a:pPr>
            <a:r>
              <a:rPr sz="1275" b="1">
                <a:solidFill>
                  <a:srgbClr val="00BC7D"/>
                </a:solidFill>
              </a:rPr>
              <a:t>已满足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3F1AA1-C48E-476E-BAF5-BDC05751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195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好友申请、权限设置、聊天、朋友圈、点赞评论、资料跳转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5691AF-E91F-478E-907D-16C49A2C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820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1AA993-388B-472D-9349-7D7AC528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20618"/>
                </a:solidFill>
              </a:defRPr>
            </a:pPr>
            <a:r>
              <a:rPr sz="1275" b="1">
                <a:solidFill>
                  <a:srgbClr val="020618"/>
                </a:solidFill>
              </a:rPr>
              <a:t>至少 3 个统计功能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BE62C9-E6A6-4915-9E63-0ED0CAB1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33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BC7D"/>
                </a:solidFill>
              </a:defRPr>
            </a:pPr>
            <a:r>
              <a:rPr sz="1275" b="1">
                <a:solidFill>
                  <a:srgbClr val="00BC7D"/>
                </a:solidFill>
              </a:rPr>
              <a:t>已满足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4E8C84-32CE-455E-92D1-A797BAA1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339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消息排行、朋友圈互动、权限统计、会话活跃度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EC9AFE-4F3E-48A2-9356-343EA783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8204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C8A462-772F-41E9-9F7B-E4C3E3AB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20618"/>
                </a:solidFill>
              </a:defRPr>
            </a:pPr>
            <a:r>
              <a:rPr sz="1275" b="1">
                <a:solidFill>
                  <a:srgbClr val="020618"/>
                </a:solidFill>
              </a:rPr>
              <a:t>实体 30 / 关系 200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94F702-01E2-499E-B9FD-87B4A0F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48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BC7D"/>
                </a:solidFill>
              </a:defRPr>
            </a:pPr>
            <a:r>
              <a:rPr sz="1275" b="1">
                <a:solidFill>
                  <a:srgbClr val="00BC7D"/>
                </a:solidFill>
              </a:rPr>
              <a:t>已满足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2E4B23-AE0D-49FE-A32C-F8B95D0B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0482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36 用户、260 好友关系、290 消息、75 朋友圈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829F5E-722E-4220-9ECC-DAF714A6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0A1B9"/>
                </a:solidFill>
              </a:defRPr>
            </a:pPr>
            <a:r>
              <a:rPr sz="975" b="0">
                <a:solidFill>
                  <a:srgbClr val="90A1B9"/>
                </a:solidFill>
              </a:rPr>
              <a:t>Moments-like / 数据库课程设计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733D71-CD9C-419C-85A3-8E41C82B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0A1B9"/>
                </a:solidFill>
              </a:defRPr>
            </a:pPr>
            <a:r>
              <a:rPr sz="975" b="1">
                <a:solidFill>
                  <a:srgbClr val="90A1B9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4662031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F4AF5C-1AA0-4757-8CA2-ABFD7D8C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0A1B9"/>
                </a:solidFill>
              </a:defRPr>
            </a:pPr>
            <a:r>
              <a:rPr sz="1050" b="1">
                <a:solidFill>
                  <a:srgbClr val="90A1B9"/>
                </a:solidFill>
              </a:rPr>
              <a:t>SYSTEM DEFINITION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D92F9-6AE3-421F-84BC-68DD6BEF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819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选题定位与需求分析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A922C2-12C4-4C33-960D-C52A2262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围绕微信式社交数据管理，把资料、关系、权限、内容和记录统一到数据库核心。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D5ED7-58BC-4AB7-A217-D1F07110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5527A9-2B6D-4890-9DA8-6208D5D5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429000" cy="31242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7D21A-C69D-499A-A407-7990DB16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431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20618"/>
                </a:solidFill>
              </a:defRPr>
            </a:pPr>
            <a:r>
              <a:rPr sz="1950" b="1">
                <a:solidFill>
                  <a:srgbClr val="020618"/>
                </a:solidFill>
              </a:rPr>
              <a:t>系统目标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DCA8F-A43B-4397-9C5E-55E9FD1A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2609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5556C"/>
                </a:solidFill>
              </a:defRPr>
            </a:pPr>
            <a:r>
              <a:rPr sz="1500" b="0">
                <a:solidFill>
                  <a:srgbClr val="45556C"/>
                </a:solidFill>
              </a:rPr>
              <a:t>管理用户个人资料、好友关系、朋友权限、聊天会话、聊天消息、朋友圈发布与互动记录，并支持统计查询。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06A4A6-D4B7-41AD-9C33-82658EDE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62150"/>
            <a:ext cx="29718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6CA232-4358-4D6C-97BE-4412A548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145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个人资料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27EA21-D55B-4FB5-BB22-C434CDE4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193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昵称、头像、账号、地区、签名、单人朋友圈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243A52-02A6-41BC-85BE-E563C015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62150"/>
            <a:ext cx="29718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714AFA-0665-4CFC-8AFE-7715E5F5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145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好友权限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47C370-8DA1-4FC6-84AE-D57ED65C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193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备注、星标、拉黑、朋友圈可见、聊天许可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1DA276-0F3D-42B9-8187-2573E487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28950"/>
            <a:ext cx="29718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B64DBC-039F-4AAF-A5C4-06047913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813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聊天记录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729CFD-E80D-43EE-B883-B30574C9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861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私聊/群聊、发送消息、侧栏检索历史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CE4CEB-FBD3-4701-9C44-A76C2C3E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28950"/>
            <a:ext cx="29718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1E3C5E-B4A5-4EF3-950E-52D94857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813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朋友圈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04CD6-8A91-4716-8FA8-3A1204F4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861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文字、地点、图片、可见范围、点赞评论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6D65F9-E954-4F11-A96C-2ACA3620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95750"/>
            <a:ext cx="29718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FD030C-55F3-4330-BC40-60B97A02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481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统计报表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C637CF-AAF8-4CD8-B721-7DB487B3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55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消息、互动、权限、会话活跃度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26C595-5FCD-41C0-87F6-A6612DC5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0A1B9"/>
                </a:solidFill>
              </a:defRPr>
            </a:pPr>
            <a:r>
              <a:rPr sz="975" b="0">
                <a:solidFill>
                  <a:srgbClr val="90A1B9"/>
                </a:solidFill>
              </a:rPr>
              <a:t>Moments-like / 数据库课程设计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D701FF-BD18-47E3-90A3-CBD1ABB0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0A1B9"/>
                </a:solidFill>
              </a:defRPr>
            </a:pPr>
            <a:r>
              <a:rPr sz="975" b="1">
                <a:solidFill>
                  <a:srgbClr val="90A1B9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943055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741F11-0832-4CAA-B271-29412A79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0A1B9"/>
                </a:solidFill>
              </a:defRPr>
            </a:pPr>
            <a:r>
              <a:rPr sz="1050" b="1">
                <a:solidFill>
                  <a:srgbClr val="90A1B9"/>
                </a:solidFill>
              </a:rPr>
              <a:t>FUNCTION MODULES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A60FBB-C2E8-4DEA-B30C-0058516F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819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功能模块完成度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7CAEBC-33C9-4D89-AA62-68AF34BC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当前系统已经从控制台版本扩展为 Web 前后端分离版本，适合现场演示。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0D3922-986A-4D20-AE26-A6B5E9E0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DED09D-4AFF-4004-B797-B844EDCB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400300" cy="32766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D9385-9976-4616-B505-0DA635CC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241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20618"/>
                </a:solidFill>
              </a:defRPr>
            </a:pPr>
            <a:r>
              <a:rPr sz="2100" b="1">
                <a:solidFill>
                  <a:srgbClr val="020618"/>
                </a:solidFill>
              </a:rPr>
              <a:t>资料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F9DE9-36CC-4635-9DF5-0952C54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28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1B3CF8-0C16-4CAE-8509-6B8F5837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527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登录后展示资料卡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1097D8-0F2E-46AF-ADB0-981D37DD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933730-C4FF-409B-B123-0C2C653D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5280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详情页可编辑本人资料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663420-2118-41CE-B811-522988DA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29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35D248-DBC2-434C-98DC-2B01A28A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528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点击头像跳转个人资料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842FCE-EE1C-4CD3-81A3-B76BCA6D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91DEB5-3D1C-46E1-A340-9A4CE0CB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5290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查看 TA 的单人朋友圈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B09619-5269-4689-942D-0495E6C6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00250"/>
            <a:ext cx="2400300" cy="32766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D0FAE5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ABD5C-6EF7-4383-898A-022EAC45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241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20618"/>
                </a:solidFill>
              </a:defRPr>
            </a:pPr>
            <a:r>
              <a:rPr sz="2100" b="1">
                <a:solidFill>
                  <a:srgbClr val="020618"/>
                </a:solidFill>
              </a:rPr>
              <a:t>朋友圈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9F7F5-174D-45FE-9A28-05499F5A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28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C9B50-8F8A-42EF-A00B-7C6786D7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9527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发布文字/地点/图片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ECCA7E-3478-4D79-9A1D-6D239251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A2E952-ABCE-4DE4-BB85-6637B1C1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5280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动态图片宫格预览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AA95BB-6C3F-42A6-920C-13BBD63E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29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082D9E-1AC1-4876-BC58-9EB24DB0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大图浏览和左右切换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1735B5-5848-46D8-93FE-3B442167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29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6BCE6F-FEAA-46CA-8ECF-6EE494CE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5290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点赞评论互动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6E0A40-2219-4E51-9C0B-02C54AE8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00250"/>
            <a:ext cx="2400300" cy="32766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2B3A1A-8E8A-48FA-A5B3-19E2E996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241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20618"/>
                </a:solidFill>
              </a:defRPr>
            </a:pPr>
            <a:r>
              <a:rPr sz="2100" b="1">
                <a:solidFill>
                  <a:srgbClr val="020618"/>
                </a:solidFill>
              </a:rPr>
              <a:t>好友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9A3757-CA2A-489E-A330-A4DCFCA1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28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A7A001-4343-4361-B1E4-11C12DEC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527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账号/手机号搜索非好友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D76D32-E538-4BD6-A4A0-0E427486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3EFAB1-46C1-4CE0-AEB9-933A7F43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280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好友申请处理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951070-120A-4311-85A2-BDE936E6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29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C56F93-35C3-4946-B1C8-EE82E1CB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528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星标朋友可点选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F61DC6-9897-4D29-9202-D1664A54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9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116D01-D3F8-4C7D-B333-F598F453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5290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权限以轻量面板设置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A453D2-D065-4E92-AF2D-FE46EBEF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00250"/>
            <a:ext cx="2400300" cy="32766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33D0C4-B808-4BD8-A727-139E0468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241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20618"/>
                </a:solidFill>
              </a:defRPr>
            </a:pPr>
            <a:r>
              <a:rPr sz="2100" b="1">
                <a:solidFill>
                  <a:srgbClr val="020618"/>
                </a:solidFill>
              </a:rPr>
              <a:t>聊天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7679D2-F6BD-43C1-AE35-5F40E5EF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28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C1E318-3FA5-4DC3-B1CE-412BCB6D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527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点击好友直接打开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5A9155-FE19-4398-8FBF-48C73E37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1D8794-3ABB-47F3-AD9F-39DC9C76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5280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右侧 mini 聊天框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68966B-91DE-48E9-BE46-D039820D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29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247868-FB05-4A17-B3D8-56D46AFC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7528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完整聊天页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897926-BB9E-4AD3-B727-1BDDC351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29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5936A95-C49F-4BE5-AAA3-56B59CED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15290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历史记录侧栏检索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861C6D-7646-460A-AA8A-1FB641A1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0A1B9"/>
                </a:solidFill>
              </a:defRPr>
            </a:pPr>
            <a:r>
              <a:rPr sz="975" b="0">
                <a:solidFill>
                  <a:srgbClr val="90A1B9"/>
                </a:solidFill>
              </a:rPr>
              <a:t>Moments-like / 数据库课程设计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A7EF46-A648-4283-8E23-07179898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0A1B9"/>
                </a:solidFill>
              </a:defRPr>
            </a:pPr>
            <a:r>
              <a:rPr sz="975" b="1">
                <a:solidFill>
                  <a:srgbClr val="90A1B9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5573733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116D967-076D-4AD4-BC6B-9C09B92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0A1B9"/>
                </a:solidFill>
              </a:defRPr>
            </a:pPr>
            <a:r>
              <a:rPr sz="1050" b="1">
                <a:solidFill>
                  <a:srgbClr val="90A1B9"/>
                </a:solidFill>
              </a:rPr>
              <a:t>DATABASE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57E14-5F23-4BAD-AD77-247B5EBC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819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数据库概念与逻辑设计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0AB55-F6B1-49F8-8C3D-7068E59E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ER 关系围绕五类核心实体展开：用户、好友、会话、消息、朋友圈。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F196F8-462B-4540-8155-994CD1B1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3D8CC7-1009-46F6-977F-CD70F728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97BC4-BE9D-4DAF-8ACE-83895F46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145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用户域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38B25-ADF0-4ADC-9880-37A2AD82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14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users / user_profiles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3B76B2-50E0-4825-9ABE-09996A5F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EC924E-92BE-494A-AE18-3F3CA9B1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003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好友域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A0CD9D-3DFB-4A5B-ACD4-F6B39A5F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03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friendships / friend_tags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E3F1D4-BAB4-4C83-893E-F07BCF06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D8152C-42C0-431B-9D63-5F2908A8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861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聊天域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BC717A-69B2-44D6-9EFE-2E1DE3E3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861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conversations / conversation_members / messages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72CE6C-13E6-496A-A404-2D556E42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F7CA6-85FB-4820-8ECB-D52324EA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朋友圈域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F5E548-2D62-4E81-8CC7-679EF824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719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moment_posts / moment_media / visibility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0172F0-54BA-4470-884B-351F6C1C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434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DE985A-7322-4C35-BE3A-F83C4E66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577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互动域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436D6C-62B5-4C01-A074-F2CDF4A3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857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moment_likes / moment_comments / audit_logs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9B7962-1748-4773-8A53-09E91492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390900"/>
            <a:ext cx="3619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C531F2-8688-4340-9741-3806FA15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409575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969998-4481-44CC-93F4-DF3BD969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146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20618"/>
                </a:solidFill>
              </a:defRPr>
            </a:pPr>
            <a:r>
              <a:rPr sz="2250" b="1">
                <a:solidFill>
                  <a:srgbClr val="020618"/>
                </a:solidFill>
              </a:rPr>
              <a:t>关系模式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9BF30E-CF2C-4C69-92A1-24647E8C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62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DC586D-7F9F-4CDD-B19D-E9C74F56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861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账号与个人资料一对一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9B7F85-1E65-458C-8D51-8FE7AE5B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05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DA7B98-D902-496C-A85F-DC6272C3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290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好友关系承载备注、权限、标签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6E4241-3F03-4056-9582-CF969B8E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48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90F173-9195-4463-B47D-8FA06FE4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会话成员表支持私聊与群聊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2B868D-21FE-4BBE-8E43-694D81B1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191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601B93-563B-43D4-B3F0-CBFB0F5D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1148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朋友圈媒体、可见范围、互动独立建表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7E0B66-8078-41DF-8CD2-A3988254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533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B4022A-35DA-46EA-8D2E-563FBF61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4577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业务规则通过主外键和约束落到数据库层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9DEB70-2CFB-420C-BE22-946B2D8F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0A1B9"/>
                </a:solidFill>
              </a:defRPr>
            </a:pPr>
            <a:r>
              <a:rPr sz="975" b="0">
                <a:solidFill>
                  <a:srgbClr val="90A1B9"/>
                </a:solidFill>
              </a:rPr>
              <a:t>Moments-like / 数据库课程设计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3D4119-9035-41D4-9F15-96F159F5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0A1B9"/>
                </a:solidFill>
              </a:defRPr>
            </a:pPr>
            <a:r>
              <a:rPr sz="975" b="1">
                <a:solidFill>
                  <a:srgbClr val="90A1B9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375357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87A76B-B3E4-40A2-945D-7629E33F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0A1B9"/>
                </a:solidFill>
              </a:defRPr>
            </a:pPr>
            <a:r>
              <a:rPr sz="1050" b="1">
                <a:solidFill>
                  <a:srgbClr val="90A1B9"/>
                </a:solidFill>
              </a:rPr>
              <a:t>MYSQL OBJECTS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EEE0B2-7A48-4BB2-B427-31F75FC8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819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物理设计与数据库对象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7B501-CF0D-4EEF-95E3-0C385F83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除了表结构，系统还实现了约束、索引、视图、存储过程和触发器。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396ED-2ACE-4E9D-B13A-6657DA0A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7D2374-E4B4-4920-811A-05095EEE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18097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0A7E3-0708-4CAC-8E67-84715633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7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solidFill>
              <a:srgbClr val="00BC7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D63C06-3F11-4F44-B1DD-4039B59B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FE41C5-A702-4176-8B82-A8D191AF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140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数据表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8453-3E2B-401D-80E4-C03793C8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38350"/>
            <a:ext cx="18097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D3DB8B-6327-4C78-9CDF-336F338E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38350"/>
            <a:ext cx="57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F4"/>
          </a:solidFill>
          <a:ln xmlns:a="http://schemas.openxmlformats.org/drawingml/2006/main" w="0">
            <a:solidFill>
              <a:srgbClr val="00A6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452729-5755-402F-B6CC-C59EE64E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21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825685-7AE9-4BBD-9796-DA788626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19400"/>
            <a:ext cx="140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外键约束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AD3997-5545-48DD-B200-0ABB07FB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38350"/>
            <a:ext cx="18097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177659-1CE4-4762-813D-EF9C9014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38350"/>
            <a:ext cx="57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CA6A4-3C62-486E-BCEF-EC3683CC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266950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43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8C85F1-649F-4722-891F-4F8A3914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819400"/>
            <a:ext cx="1409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索引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679E34-58C2-49FA-8B54-4C76E3F8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38350"/>
            <a:ext cx="29527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B2AE3-2FB2-4B60-A23A-851C670F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38350"/>
            <a:ext cx="57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solidFill>
              <a:srgbClr val="00BC7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576783-8FB9-4D05-A981-1A8BDD2E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66950"/>
            <a:ext cx="2552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3+2+2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AB5961-3C8C-496B-892A-C7536C48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2552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视图 / 存储过程 / 触发器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8AB6FF-6D42-423E-88DA-AB306DC5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视图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F6383D-2721-49B0-A495-3D2EC5DC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84810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v_friend_list、v_message_statistics、v_moment_interaction_statistics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2B8AFD-3BB2-4640-9288-F0673D34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053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存储过程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F235C4-BA2D-458C-B63E-72EB1C50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0530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sp_send_message、sp_friend_permission_summary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4DA12E-89CD-4B12-B17C-13532051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625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触发器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005C00-1A14-47A3-B3CB-403F7FEB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6250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消息插入后更新会话时间；点赞后写入审计日志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DDD73C-AA72-49C0-A92D-D0F91D5F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97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索引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FDEB9C-75C7-4F1E-9A3D-1F6EE909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1970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账号、好友关系、会话消息时间、朋友圈发布时间、全文消息内容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85534C-6E7C-4077-B2F2-1E5815733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0A1B9"/>
                </a:solidFill>
              </a:defRPr>
            </a:pPr>
            <a:r>
              <a:rPr sz="975" b="0">
                <a:solidFill>
                  <a:srgbClr val="90A1B9"/>
                </a:solidFill>
              </a:rPr>
              <a:t>Moments-like / 数据库课程设计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906519-BF12-488A-9B09-1233A25C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0A1B9"/>
                </a:solidFill>
              </a:defRPr>
            </a:pPr>
            <a:r>
              <a:rPr sz="975" b="1">
                <a:solidFill>
                  <a:srgbClr val="90A1B9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918899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5A051-FFBC-4A16-865A-4D1E899D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0A1B9"/>
                </a:solidFill>
              </a:defRPr>
            </a:pPr>
            <a:r>
              <a:rPr sz="1050" b="1">
                <a:solidFill>
                  <a:srgbClr val="90A1B9"/>
                </a:solidFill>
              </a:rPr>
              <a:t>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DCD49-291E-4E16-B7CA-F7049720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819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实现架构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5A7D3-6114-488A-A359-6C166E86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前端负责交互体验，后端负责业务 API，MySQL 保存所有核心数据。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359B07-2FAE-43D4-9A6C-545572F9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626CE-8F3E-4F41-87EC-00240909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47900"/>
            <a:ext cx="2724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7BB2D-F10B-40EC-8EE2-4EA701DA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71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20618"/>
                </a:solidFill>
              </a:defRPr>
            </a:pPr>
            <a:r>
              <a:rPr sz="2250" b="1">
                <a:solidFill>
                  <a:srgbClr val="020618"/>
                </a:solidFill>
              </a:rPr>
              <a:t>前端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77ED7-31FA-421D-8319-1BB335FD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480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BC7D"/>
                </a:solidFill>
              </a:defRPr>
            </a:pPr>
            <a:r>
              <a:rPr sz="1500" b="1">
                <a:solidFill>
                  <a:srgbClr val="00BC7D"/>
                </a:solidFill>
              </a:rPr>
              <a:t>HTML / CSS / JavaScript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F697CC-A9C9-4559-B0F5-DC7EFE1B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242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暗色微信式界面、侧边栏、朋友圈图片预览、聊天抽屉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81F61D-A9CF-48D2-82EB-B6B9E2C5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09900"/>
            <a:ext cx="3619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E0E1C3-D9EB-4B4F-A1B6-E2BB53D3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47900"/>
            <a:ext cx="2724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8445C-34E6-49AE-98CA-1C15353C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571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20618"/>
                </a:solidFill>
              </a:defRPr>
            </a:pPr>
            <a:r>
              <a:rPr sz="2250" b="1">
                <a:solidFill>
                  <a:srgbClr val="020618"/>
                </a:solidFill>
              </a:rPr>
              <a:t>后端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B081A-F054-4E5A-93BD-6FE8DFC1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480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BC7D"/>
                </a:solidFill>
              </a:defRPr>
            </a:pPr>
            <a:r>
              <a:rPr sz="1500" b="1">
                <a:solidFill>
                  <a:srgbClr val="00BC7D"/>
                </a:solidFill>
              </a:rPr>
              <a:t>Python Flask + PyMySQL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92CCFE-8758-4249-AE79-EFE8E9B3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242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REST API、上传服务、登录、好友、消息、朋友圈、统计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E87272-F107-4953-A29C-0B6C7F78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09900"/>
            <a:ext cx="3619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55F2B0-2D2B-4897-9C77-E20F74BE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47900"/>
            <a:ext cx="2724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BD9C9B-1BA9-47A1-9BDB-89EF5C8E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71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20618"/>
                </a:solidFill>
              </a:defRPr>
            </a:pPr>
            <a:r>
              <a:rPr sz="2250" b="1">
                <a:solidFill>
                  <a:srgbClr val="020618"/>
                </a:solidFill>
              </a:rPr>
              <a:t>数据库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3CD6B2-4A2D-42B9-8436-B0333A55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480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BC7D"/>
                </a:solidFill>
              </a:defRPr>
            </a:pPr>
            <a:r>
              <a:rPr sz="1500" b="1">
                <a:solidFill>
                  <a:srgbClr val="00BC7D"/>
                </a:solidFill>
              </a:rPr>
              <a:t>MySQL 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AFDBED-3F7A-444E-B116-AF36C8D3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关系模式、约束、索引、视图、触发器、存储过程、演示数据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C2154C-A155-4D15-923A-D422D928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530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运行方式：PyCharm 启动 backend/api_server.py，前端访问 http://127.0.0.1:8000，DBeaver 连接 wechat_course_design。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EEFD98-60CF-4DBB-8A96-528CC769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0A1B9"/>
                </a:solidFill>
              </a:defRPr>
            </a:pPr>
            <a:r>
              <a:rPr sz="975" b="0">
                <a:solidFill>
                  <a:srgbClr val="90A1B9"/>
                </a:solidFill>
              </a:rPr>
              <a:t>Moments-like / 数据库课程设计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C39BAA-FB33-4AB9-8174-1A52A81C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0A1B9"/>
                </a:solidFill>
              </a:defRPr>
            </a:pPr>
            <a:r>
              <a:rPr sz="975" b="1">
                <a:solidFill>
                  <a:srgbClr val="90A1B9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7071981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FF0E36-4F0C-43AC-9987-D8557A22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0A1B9"/>
                </a:solidFill>
              </a:defRPr>
            </a:pPr>
            <a:r>
              <a:rPr sz="1050" b="1">
                <a:solidFill>
                  <a:srgbClr val="90A1B9"/>
                </a:solidFill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D08350-ADAA-48DD-A64B-3F9A210D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819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本机功能验证结果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38C79D-8B08-49B0-895B-4CF51C87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生成 PPT 前已启动服务并检查核心接口。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4C235C-D6F4-44DF-BBB7-A056CF2A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1FA84-6F0D-46AF-92FA-8484FEAB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38350"/>
            <a:ext cx="3048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08C5-418E-48EA-8B18-A9069F72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28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前端入口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D5864D-CE8E-4574-BCAC-4DC9F839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098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BC7D"/>
                </a:solidFill>
              </a:defRPr>
            </a:pPr>
            <a:r>
              <a:rPr sz="1800" b="1">
                <a:solidFill>
                  <a:srgbClr val="00BC7D"/>
                </a:solidFill>
              </a:rPr>
              <a:t>200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F9A2B-80E6-42CB-AC70-3CDAAC7A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28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http://127.0.0.1:8000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B13369-40C9-4387-8095-57864713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38350"/>
            <a:ext cx="3048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7EC046-B704-4262-83A9-92D34FDB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28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后端健康检查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27300E-466F-4883-9BCF-D2BFF6D8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098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BC7D"/>
                </a:solidFill>
              </a:defRPr>
            </a:pPr>
            <a:r>
              <a:rPr sz="1800" b="1">
                <a:solidFill>
                  <a:srgbClr val="00BC7D"/>
                </a:solidFill>
              </a:rPr>
              <a:t>OK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D2F271-546D-477F-8659-50102CD7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28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连接 wechat_course_design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AFBF10-3758-4F98-9E41-43C6CFAB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38350"/>
            <a:ext cx="3048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8B9406-32F5-4766-A0CB-100B2005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28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默认账号登录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F3E777-7A6A-48F4-9D5B-2123D043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098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BC7D"/>
                </a:solidFill>
              </a:defRPr>
            </a:pPr>
            <a:r>
              <a:rPr sz="1800" b="1">
                <a:solidFill>
                  <a:srgbClr val="00BC7D"/>
                </a:solidFill>
              </a:rPr>
              <a:t>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39AFA-4B6A-4907-8915-7D172FB8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28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u001 / 123456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C5420A-00D4-4072-A19F-92BC52FA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67100"/>
            <a:ext cx="3048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7A06AC-6794-4DD5-AD7F-ABE1A901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聊天记录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938E27-84D4-4426-9780-EB2B1B5E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6385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BC7D"/>
                </a:solidFill>
              </a:defRPr>
            </a:pPr>
            <a:r>
              <a:rPr sz="1800" b="1">
                <a:solidFill>
                  <a:srgbClr val="00BC7D"/>
                </a:solidFill>
              </a:rPr>
              <a:t>9 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D07EE4-6545-4A39-9506-CAB8DA73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57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u001 首个会话可读取消息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591158-5599-4A79-A1D7-B9A6A8C0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3048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09A258-D39B-48D3-BDD3-39BD75C6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576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统计功能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88ABBA-2237-43FD-8595-DC4A80D4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385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BC7D"/>
                </a:solidFill>
              </a:defRPr>
            </a:pPr>
            <a:r>
              <a:rPr sz="1800" b="1">
                <a:solidFill>
                  <a:srgbClr val="00BC7D"/>
                </a:solidFill>
              </a:rPr>
              <a:t>4 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44987D-8D9F-441B-BA13-0E49926B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消息、朋友圈、权限、会话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DA8C06-FB33-4525-A86C-5F1DE7D0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67100"/>
            <a:ext cx="3048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AB570B-18AA-4E68-8CF0-DF8915F5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576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非好友搜索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9CD8AD-B709-4218-8D2F-77DC1694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6385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BC7D"/>
                </a:solidFill>
              </a:defRPr>
            </a:pPr>
            <a:r>
              <a:rPr sz="1800" b="1">
                <a:solidFill>
                  <a:srgbClr val="00BC7D"/>
                </a:solidFill>
              </a:rPr>
              <a:t>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AAE875-3A6B-4F31-8810-07EC2CBF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57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u009 搜 u018 / 手机号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460CFF-FDC6-4B6F-B754-25EFF6CA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3875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建议演示账号：默认用 u001 展示资料、朋友圈、聊天；用 u009 搜索 u018 或 13800000018 展示非好友搜索。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C375FB-1102-42FC-AFBA-8885FC3A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0A1B9"/>
                </a:solidFill>
              </a:defRPr>
            </a:pPr>
            <a:r>
              <a:rPr sz="975" b="0">
                <a:solidFill>
                  <a:srgbClr val="90A1B9"/>
                </a:solidFill>
              </a:rPr>
              <a:t>Moments-like / 数据库课程设计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498DFE-EAFD-47E5-BF14-0FD4282E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0A1B9"/>
                </a:solidFill>
              </a:defRPr>
            </a:pPr>
            <a:r>
              <a:rPr sz="975" b="1">
                <a:solidFill>
                  <a:srgbClr val="90A1B9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0196719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51822B-5FC3-49BC-9471-2F531937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0A1B9"/>
                </a:solidFill>
              </a:defRPr>
            </a:pPr>
            <a:r>
              <a:rPr sz="1050" b="1">
                <a:solidFill>
                  <a:srgbClr val="90A1B9"/>
                </a:solidFill>
              </a:rPr>
              <a:t>OPTIMIZATION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0F214-57EB-427A-B3C1-8FD592DF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819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是否还需要拓展优化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08885-1EC2-4CE7-B288-CEFF923B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结论：核心评分点已经够用；优化重点应放在展示材料和少量演示友好性。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681C7-C7ED-4862-9C2B-96B352E3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C3948-461A-4DF8-986A-AB8BCB71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48387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1B557D-371C-4B0A-A87C-DC0C638C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81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20618"/>
                </a:solidFill>
              </a:defRPr>
            </a:pPr>
            <a:r>
              <a:rPr sz="2100" b="1">
                <a:solidFill>
                  <a:srgbClr val="020618"/>
                </a:solidFill>
              </a:rPr>
              <a:t>当前判断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735565-6AB9-4396-B2DB-5A672795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67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9C33A-BA04-4E13-9C69-AE950A63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90850"/>
            <a:ext cx="348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不建议继续大幅加功能，容易稀释数据库设计重点。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302EB-6692-4AB0-96D8-D98B645C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05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1B6E52-3C2C-4240-AA5E-41208589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429000"/>
            <a:ext cx="348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建议把 ER 图、关系模式、物理设计和测试截图补进正式报告。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204C3-26CF-4BAE-899A-6A19F7A3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7AD708-8189-400B-BC92-152CD23E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867150"/>
            <a:ext cx="348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课堂演示固定账号和路径，避免临场搜索不到数据。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783FCD-9479-48F5-B494-804143C6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81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9E6C14-0234-422F-AFA2-E331296E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05300"/>
            <a:ext cx="348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已调整会话排序，让默认账号优先看到有消息的聊天。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B841AC-B717-408B-B338-CBF09E9B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38350"/>
            <a:ext cx="43624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7DAF18-E84B-4840-AE32-C654EA48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20618"/>
                </a:solidFill>
              </a:defRPr>
            </a:pPr>
            <a:r>
              <a:rPr sz="2100" b="1">
                <a:solidFill>
                  <a:srgbClr val="020618"/>
                </a:solidFill>
              </a:rPr>
              <a:t>可选加分项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1AA5A2-AE9F-44F1-8AC7-F9292F19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67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D69201-A78D-422B-88EF-156F0B1B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90850"/>
            <a:ext cx="3105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报告中加入接口测试表和数据库截图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B2C5C4-18B5-4DC5-B005-660B35AF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05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130A7-A40E-4830-A00B-FCAFF40B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3105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群聊成员管理可作为扩展说明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93E76B-D868-4E90-AAAA-3DF7E4AF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6FEDB9-DE10-41AF-BDE0-9E6408D2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67150"/>
            <a:ext cx="3105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密码哈希可升级为加盐方案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FD9A14-1342-4F86-AB15-84F27F66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381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C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2715F2-804E-4376-9B68-1A776A72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05300"/>
            <a:ext cx="3105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20618"/>
                </a:solidFill>
              </a:defRPr>
            </a:pPr>
            <a:r>
              <a:rPr sz="1500" b="0">
                <a:solidFill>
                  <a:srgbClr val="020618"/>
                </a:solidFill>
              </a:rPr>
              <a:t>大数据量下补充分页与更多异常提示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E19570-7A8F-4229-B3E3-06C221A9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0A1B9"/>
                </a:solidFill>
              </a:defRPr>
            </a:pPr>
            <a:r>
              <a:rPr sz="975" b="0">
                <a:solidFill>
                  <a:srgbClr val="90A1B9"/>
                </a:solidFill>
              </a:rPr>
              <a:t>Moments-like / 数据库课程设计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800AB5-BAE5-4E59-8270-05974E5B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0A1B9"/>
                </a:solidFill>
              </a:defRPr>
            </a:pPr>
            <a:r>
              <a:rPr sz="975" b="1">
                <a:solidFill>
                  <a:srgbClr val="90A1B9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877262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FBD63A-6B30-43CF-8B2D-BCC100D7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0A1B9"/>
                </a:solidFill>
              </a:defRPr>
            </a:pPr>
            <a:r>
              <a:rPr sz="1050" b="1">
                <a:solidFill>
                  <a:srgbClr val="90A1B9"/>
                </a:solidFill>
              </a:rPr>
              <a:t>DEMO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97EC2-2AB5-4C8C-8DF5-FA442EFB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8191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课堂演示路线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87F464-184C-4BBC-8EF8-FEC5D250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用 6 分钟展示最有代表性的完整业务流程，并覆盖 3 个以上统计功能。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F139C-8727-46DF-800A-8AC56F22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1C8A2-F818-4F18-B943-B128D543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4629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F673C-F0BE-4C8D-8B96-96148ECF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9550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BC7D"/>
                </a:solidFill>
              </a:defRPr>
            </a:pPr>
            <a:r>
              <a:rPr sz="1950" b="1">
                <a:solidFill>
                  <a:srgbClr val="00BC7D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E7531-9DD2-498B-B325-8341DA95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0764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登录与资料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CCDA42-A284-4E11-9BA2-49A0FA97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622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u001 / 123456 登录，查看资料页与单人朋友圈入口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70A6EF-33AF-49FA-83B6-83FDC64C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24050"/>
            <a:ext cx="4629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728272-D057-4857-B6FE-67CF759A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BC7D"/>
                </a:solidFill>
              </a:defRPr>
            </a:pPr>
            <a:r>
              <a:rPr sz="1950" b="1">
                <a:solidFill>
                  <a:srgbClr val="00BC7D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FF7574-C673-4DD7-A8F9-52DE7BFB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朋友圈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7DAA35-15D2-4088-A3B0-ACAA033C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3622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发布/查看图片动态，演示宫格预览、大图切换、点赞评论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B5B59-29C2-481B-B1D5-38C757B3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71800"/>
            <a:ext cx="4629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A56DC-42E8-4E41-A463-6ABB9EC1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43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BC7D"/>
                </a:solidFill>
              </a:defRPr>
            </a:pPr>
            <a:r>
              <a:rPr sz="1950" b="1">
                <a:solidFill>
                  <a:srgbClr val="00BC7D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3291FD-7B5C-4D4D-ACF2-AD1C16E7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242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好友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439F7-A955-49A6-8864-AAEA1E66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099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星标切换、权限面板、好友详情右侧 mini 聊天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19077D-AB1E-4FD3-A5A2-DF3D272F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71800"/>
            <a:ext cx="4629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020A98-7DD1-413C-BEB6-EEDB89FB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43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BC7D"/>
                </a:solidFill>
              </a:defRPr>
            </a:pPr>
            <a:r>
              <a:rPr sz="1950" b="1">
                <a:solidFill>
                  <a:srgbClr val="00BC7D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0AFAE8-BDC9-477E-9468-8EE2ADE6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1242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聊天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37EA7A-2F68-4F14-9C06-A29A1511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4099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打开有记录会话，发送消息，右侧历史抽屉检索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016379-F503-4EAB-A744-438EF8DA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4629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C5BA3C-5633-4F08-9379-82D8780C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BC7D"/>
                </a:solidFill>
              </a:defRPr>
            </a:pPr>
            <a:r>
              <a:rPr sz="1950" b="1">
                <a:solidFill>
                  <a:srgbClr val="00BC7D"/>
                </a:solidFill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23858B-AF30-4C35-B5CA-989A3756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1719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搜索申请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A4A8D8-EDC1-4246-9946-1A5EC770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577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切换 u009，按账号或手机号搜索 u018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7DC6C0-6B24-459C-A120-40A55B0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019550"/>
            <a:ext cx="4629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A32353-46B5-4EC2-80A8-7A9D05BA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19100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BC7D"/>
                </a:solidFill>
              </a:defRPr>
            </a:pPr>
            <a:r>
              <a:rPr sz="1950" b="1">
                <a:solidFill>
                  <a:srgbClr val="00BC7D"/>
                </a:solidFill>
              </a:rPr>
              <a:t>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398E78-716C-4BC6-8C85-5B2A304D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719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统计与数据库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912523-1D8A-436C-8772-189C09EB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577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45556C"/>
                </a:solidFill>
              </a:defRPr>
            </a:pPr>
            <a:r>
              <a:rPr sz="1125" b="0">
                <a:solidFill>
                  <a:srgbClr val="45556C"/>
                </a:solidFill>
              </a:rPr>
              <a:t>展示 4 类统计，再切到 DBeaver 看表、视图、过程、触发器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712625-5E50-48CE-9687-51BA2CBD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90A1B9"/>
                </a:solidFill>
              </a:defRPr>
            </a:pPr>
            <a:r>
              <a:rPr sz="975" b="0">
                <a:solidFill>
                  <a:srgbClr val="90A1B9"/>
                </a:solidFill>
              </a:rPr>
              <a:t>Moments-like / 数据库课程设计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51BD60-C09D-496A-A1A6-BEF1521D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1985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0A1B9"/>
                </a:solidFill>
              </a:defRPr>
            </a:pPr>
            <a:r>
              <a:rPr sz="975" b="1">
                <a:solidFill>
                  <a:srgbClr val="90A1B9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883358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2026-08-27T09:58:52.5160000Z</dcterms:created>
  <dcterms:modified xsi:type="dcterms:W3CDTF">2026-08-27T09:58:52.5160000Z</dcterms:modified>
</coreProperties>
</file>