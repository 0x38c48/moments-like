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8cda7d2b554139" /><Relationship Type="http://schemas.openxmlformats.org/officeDocument/2006/relationships/extended-properties" Target="/docProps/app.xml" Id="R7782be45f2a94975" /><Relationship Type="http://schemas.openxmlformats.org/officeDocument/2006/relationships/officeDocument" Target="/ppt/presentation.xml" Id="Rf2f42c35f224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86f9401244482c"/>
  </p:sldMasterIdLst>
  <p:notesMasterIdLst>
    <p:notesMasterId xmlns:r="http://schemas.openxmlformats.org/officeDocument/2006/relationships" r:id="Rb1417737e3be45c5"/>
  </p:notesMasterIdLst>
  <p:sldIdLst>
    <p:sldId xmlns:r="http://schemas.openxmlformats.org/officeDocument/2006/relationships" id="256" r:id="R8031e9f4ad814705"/>
    <p:sldId xmlns:r="http://schemas.openxmlformats.org/officeDocument/2006/relationships" id="257" r:id="Rf5c93b709c0a4fae"/>
    <p:sldId xmlns:r="http://schemas.openxmlformats.org/officeDocument/2006/relationships" id="258" r:id="Rb03278f3c4cc418a"/>
    <p:sldId xmlns:r="http://schemas.openxmlformats.org/officeDocument/2006/relationships" id="259" r:id="R5bd21daad65a4d83"/>
    <p:sldId xmlns:r="http://schemas.openxmlformats.org/officeDocument/2006/relationships" id="260" r:id="Re364e9aec1954055"/>
    <p:sldId xmlns:r="http://schemas.openxmlformats.org/officeDocument/2006/relationships" id="261" r:id="Raef6517359f941d6"/>
    <p:sldId xmlns:r="http://schemas.openxmlformats.org/officeDocument/2006/relationships" id="262" r:id="R1afe14868b384b94"/>
    <p:sldId xmlns:r="http://schemas.openxmlformats.org/officeDocument/2006/relationships" id="263" r:id="R65845ea341cf46cb"/>
    <p:sldId xmlns:r="http://schemas.openxmlformats.org/officeDocument/2006/relationships" id="264" r:id="Rdd481591985141a3"/>
    <p:sldId xmlns:r="http://schemas.openxmlformats.org/officeDocument/2006/relationships" id="265" r:id="R10f081e7c1454af9"/>
    <p:sldId xmlns:r="http://schemas.openxmlformats.org/officeDocument/2006/relationships" id="266" r:id="Rd27496e27c0443c4"/>
    <p:sldId xmlns:r="http://schemas.openxmlformats.org/officeDocument/2006/relationships" id="267" r:id="Raa89aa4a27e2457d"/>
    <p:sldId xmlns:r="http://schemas.openxmlformats.org/officeDocument/2006/relationships" id="268" r:id="R4eaf7cc132fc48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7d5af69f914dc1" /><Relationship Type="http://schemas.openxmlformats.org/officeDocument/2006/relationships/slideMaster" Target="/ppt/slideMasters/slideMaster1.xml" Id="R5786f9401244482c" /><Relationship Type="http://schemas.openxmlformats.org/officeDocument/2006/relationships/notesMaster" Target="/ppt/notesMasters/notesMaster1.xml" Id="Rb1417737e3be45c5" /><Relationship Type="http://schemas.openxmlformats.org/officeDocument/2006/relationships/presProps" Target="/ppt/presProps.xml" Id="Rcbf8e0101cd042a0" /><Relationship Type="http://schemas.openxmlformats.org/officeDocument/2006/relationships/tableStyles" Target="/ppt/tableStyles.xml" Id="Rff7c0a8b3f4346ed" /><Relationship Type="http://schemas.openxmlformats.org/officeDocument/2006/relationships/slide" Target="/ppt/slides/slide1.xml" Id="R8031e9f4ad814705" /><Relationship Type="http://schemas.openxmlformats.org/officeDocument/2006/relationships/slide" Target="/ppt/slides/slide2.xml" Id="Rf5c93b709c0a4fae" /><Relationship Type="http://schemas.openxmlformats.org/officeDocument/2006/relationships/slide" Target="/ppt/slides/slide3.xml" Id="Rb03278f3c4cc418a" /><Relationship Type="http://schemas.openxmlformats.org/officeDocument/2006/relationships/slide" Target="/ppt/slides/slide4.xml" Id="R5bd21daad65a4d83" /><Relationship Type="http://schemas.openxmlformats.org/officeDocument/2006/relationships/slide" Target="/ppt/slides/slide5.xml" Id="Re364e9aec1954055" /><Relationship Type="http://schemas.openxmlformats.org/officeDocument/2006/relationships/slide" Target="/ppt/slides/slide6.xml" Id="Raef6517359f941d6" /><Relationship Type="http://schemas.openxmlformats.org/officeDocument/2006/relationships/slide" Target="/ppt/slides/slide7.xml" Id="R1afe14868b384b94" /><Relationship Type="http://schemas.openxmlformats.org/officeDocument/2006/relationships/slide" Target="/ppt/slides/slide8.xml" Id="R65845ea341cf46cb" /><Relationship Type="http://schemas.openxmlformats.org/officeDocument/2006/relationships/slide" Target="/ppt/slides/slide9.xml" Id="Rdd481591985141a3" /><Relationship Type="http://schemas.openxmlformats.org/officeDocument/2006/relationships/slide" Target="/ppt/slides/slide10.xml" Id="R10f081e7c1454af9" /><Relationship Type="http://schemas.openxmlformats.org/officeDocument/2006/relationships/slide" Target="/ppt/slides/slide11.xml" Id="Rd27496e27c0443c4" /><Relationship Type="http://schemas.openxmlformats.org/officeDocument/2006/relationships/slide" Target="/ppt/slides/slide12.xml" Id="Raa89aa4a27e2457d" /><Relationship Type="http://schemas.openxmlformats.org/officeDocument/2006/relationships/slide" Target="/ppt/slides/slide13.xml" Id="R4eaf7cc132fc48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0e7a0380f44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1cfed572143fe" /><Relationship Type="http://schemas.openxmlformats.org/officeDocument/2006/relationships/notesMaster" Target="/ppt/notesMasters/notesMaster1.xml" Id="R01a3bc205fb3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2ce8caad69431f" /><Relationship Type="http://schemas.openxmlformats.org/officeDocument/2006/relationships/notesMaster" Target="/ppt/notesMasters/notesMaster1.xml" Id="R5b2db4685dc746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6930c572334a98" /><Relationship Type="http://schemas.openxmlformats.org/officeDocument/2006/relationships/notesMaster" Target="/ppt/notesMasters/notesMaster1.xml" Id="R446c52a323c0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9292fc062b448c" /><Relationship Type="http://schemas.openxmlformats.org/officeDocument/2006/relationships/notesMaster" Target="/ppt/notesMasters/notesMaster1.xml" Id="R04b69d9d5d11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33d5a66854416e" /><Relationship Type="http://schemas.openxmlformats.org/officeDocument/2006/relationships/notesMaster" Target="/ppt/notesMasters/notesMaster1.xml" Id="R0ad9bdd5ef7b42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93518e0e184995" /><Relationship Type="http://schemas.openxmlformats.org/officeDocument/2006/relationships/notesMaster" Target="/ppt/notesMasters/notesMaster1.xml" Id="Rb85bc0c2456b4f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f13f95e61b427f" /><Relationship Type="http://schemas.openxmlformats.org/officeDocument/2006/relationships/notesMaster" Target="/ppt/notesMasters/notesMaster1.xml" Id="Re39289d4de214a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608f51be484b82" /><Relationship Type="http://schemas.openxmlformats.org/officeDocument/2006/relationships/notesMaster" Target="/ppt/notesMasters/notesMaster1.xml" Id="Rcd4515fe0fc443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ee5d3ebaae49c0" /><Relationship Type="http://schemas.openxmlformats.org/officeDocument/2006/relationships/notesMaster" Target="/ppt/notesMasters/notesMaster1.xml" Id="Rb1dd31b7a8e0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b18f5a81324a3d" /><Relationship Type="http://schemas.openxmlformats.org/officeDocument/2006/relationships/notesMaster" Target="/ppt/notesMasters/notesMaster1.xml" Id="R1453443c63bc46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77db1785cd47c0" /><Relationship Type="http://schemas.openxmlformats.org/officeDocument/2006/relationships/notesMaster" Target="/ppt/notesMasters/notesMaster1.xml" Id="R64837a6987ce49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169670a30c49fa" /><Relationship Type="http://schemas.openxmlformats.org/officeDocument/2006/relationships/notesMaster" Target="/ppt/notesMasters/notesMaster1.xml" Id="R72ee7f3f4b8247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e1d788491d409a" /><Relationship Type="http://schemas.openxmlformats.org/officeDocument/2006/relationships/notesMaster" Target="/ppt/notesMasters/notesMaster1.xml" Id="Re67745e60b304a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系统截图来自本机 http://127.0.0.1:8000 登录 u001 后截取。</a:t>
            </a:r>
          </a:p>
          <a:p xmlns:a="http://schemas.openxmlformats.org/drawingml/2006/main">
            <a:r>
              <a:t>系统名称、技术栈来自 README.md 和 docs/design.md。</a:t>
            </a:r>
          </a:p>
          <a:p xmlns:a="http://schemas.openxmlformats.org/drawingml/2006/main">
            <a:r>
              <a:t>参考示例 PPT 的课程汇报结构：示例1/2/3-数据库课堂展示--宾馆.pptx。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章节组织参考 示例1 的“需求分析/系统框架/数据库设计”和 示例2 的“需求与业务流程/角色与业务实现/数据结构和技术选择”。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课程定位来自 数据库课程设计题目及要求-2026.pptx 第3-5页。</a:t>
            </a:r>
          </a:p>
          <a:p xmlns:a="http://schemas.openxmlformats.org/drawingml/2006/main">
            <a:r>
              <a:t>系统目标来自 docs/design.md 第2节。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功能模块来自 docs/design.md 第3节、README.md 课堂演示流程，以及 frontend/app.js 当前实现。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业务流程由 README.md 课堂演示流程整理，结合当前 Web 端功能实现。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截图来自本机前端朋友圈页面。</a:t>
            </a:r>
          </a:p>
          <a:p xmlns:a="http://schemas.openxmlformats.org/drawingml/2006/main">
            <a:r>
              <a:t>朋友圈功能来自 backend/api_server.py /api/moments、/api/uploads、/api/moments/&lt;id&gt;/like、/comments。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截图来自本机好友页面。</a:t>
            </a:r>
          </a:p>
          <a:p xmlns:a="http://schemas.openxmlformats.org/drawingml/2006/main">
            <a:r>
              <a:t>好友和权限功能来自 backend/api_server.py /api/friends、/api/friends/request、/api/friends/&lt;id&gt;/permissions。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截图来自本机聊天页面。</a:t>
            </a:r>
          </a:p>
          <a:p xmlns:a="http://schemas.openxmlformats.org/drawingml/2006/main">
            <a:r>
              <a:t>聊天功能来自 backend/api_server.py /api/conversations、/api/messages，以及 sql/01_schema_mysql.sql 中 sp_send_message。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截图来自本机资料页面。</a:t>
            </a:r>
          </a:p>
          <a:p xmlns:a="http://schemas.openxmlformats.org/drawingml/2006/main">
            <a:r>
              <a:t>资料功能来自 backend/api_server.py /api/profile/&lt;user_id&gt;。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表分组来自 docs/design.md 第6-9节。</a:t>
            </a:r>
          </a:p>
          <a:p xmlns:a="http://schemas.openxmlformats.org/drawingml/2006/main">
            <a:r>
              <a:t>数据库对象数量来自 sql/01_schema_mysql.sql 扫描：14表、21外键、43索引、3视图、2存储过程、2触发器。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截图来自本机统计页面。</a:t>
            </a:r>
          </a:p>
          <a:p xmlns:a="http://schemas.openxmlformats.org/drawingml/2006/main">
            <a:r>
              <a:t>统计接口来自 backend/api_server.py /api/statistics/&lt;user_id&gt;/&lt;kind&gt;。</a:t>
            </a:r>
          </a:p>
          <a:p xmlns:a="http://schemas.openxmlformats.org/drawingml/2006/main">
            <a:r>
              <a:t>统计要求来自 数据库课程设计题目及要求-2026.pptx 第7页。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技术栈和运行方式来自 README.md。</a:t>
            </a:r>
          </a:p>
          <a:p xmlns:a="http://schemas.openxmlformats.org/drawingml/2006/main">
            <a:r>
              <a:t>MySQL 配置来自 db_config.py。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总结基于当前项目 README.md、docs/design.md、sql/01_schema_mysql.sql 和本机运行截图。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8652d7fc64c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a75e951a249f4" /><Relationship Type="http://schemas.openxmlformats.org/officeDocument/2006/relationships/slideLayout" Target="/ppt/slideLayouts/slideLayout1.xml" Id="Rea8796366576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8796366576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bbdfc473e4ad5" /><Relationship Type="http://schemas.openxmlformats.org/officeDocument/2006/relationships/image" Target="/ppt/media/image.png" Id="Recfac50e62584fb7" /><Relationship Type="http://schemas.openxmlformats.org/officeDocument/2006/relationships/image" Target="/ppt/media/image2.png" Id="Rf830179d69eb4264" /><Relationship Type="http://schemas.openxmlformats.org/officeDocument/2006/relationships/notesSlide" Target="/ppt/notesSlides/notesSlide1.xml" Id="Rcaadc11125ef4a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99130cf37443f" /><Relationship Type="http://schemas.openxmlformats.org/officeDocument/2006/relationships/notesSlide" Target="/ppt/notesSlides/notesSlide2.xml" Id="R1810e30b6b7d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e671783b242bb" /><Relationship Type="http://schemas.openxmlformats.org/officeDocument/2006/relationships/notesSlide" Target="/ppt/notesSlides/notesSlide3.xml" Id="R122630fb808f45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3592d1b7b4f69" /><Relationship Type="http://schemas.openxmlformats.org/officeDocument/2006/relationships/notesSlide" Target="/ppt/notesSlides/notesSlide4.xml" Id="Rcc9cb9a9cddb4d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5443ee7354a13" /><Relationship Type="http://schemas.openxmlformats.org/officeDocument/2006/relationships/notesSlide" Target="/ppt/notesSlides/notesSlide5.xml" Id="R10a6ef4f9bd849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e533f3849480c" /><Relationship Type="http://schemas.openxmlformats.org/officeDocument/2006/relationships/image" Target="/ppt/media/image3.png" Id="R447fbe71cf724732" /><Relationship Type="http://schemas.openxmlformats.org/officeDocument/2006/relationships/notesSlide" Target="/ppt/notesSlides/notesSlide6.xml" Id="Rd43738f64d6440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b4010d2fc425a" /><Relationship Type="http://schemas.openxmlformats.org/officeDocument/2006/relationships/image" Target="/ppt/media/image4.png" Id="Rb3b984295248415f" /><Relationship Type="http://schemas.openxmlformats.org/officeDocument/2006/relationships/notesSlide" Target="/ppt/notesSlides/notesSlide7.xml" Id="R354ecbae12b3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fb0b6a0b34770" /><Relationship Type="http://schemas.openxmlformats.org/officeDocument/2006/relationships/image" Target="/ppt/media/image5.png" Id="R9925b2a758f44d71" /><Relationship Type="http://schemas.openxmlformats.org/officeDocument/2006/relationships/notesSlide" Target="/ppt/notesSlides/notesSlide8.xml" Id="R9e26b5eb7d4845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dd5fb52824147" /><Relationship Type="http://schemas.openxmlformats.org/officeDocument/2006/relationships/image" Target="/ppt/media/image6.png" Id="R3936026a8d9f4514" /><Relationship Type="http://schemas.openxmlformats.org/officeDocument/2006/relationships/notesSlide" Target="/ppt/notesSlides/notesSlide9.xml" Id="R7d94cb07ba1a4c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13c0d8b3847b2" /><Relationship Type="http://schemas.openxmlformats.org/officeDocument/2006/relationships/notesSlide" Target="/ppt/notesSlides/notesSlide10.xml" Id="R47bda79bf8f54b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1f2ba7284461d" /><Relationship Type="http://schemas.openxmlformats.org/officeDocument/2006/relationships/image" Target="/ppt/media/image7.png" Id="R0f698387e9764ac3" /><Relationship Type="http://schemas.openxmlformats.org/officeDocument/2006/relationships/notesSlide" Target="/ppt/notesSlides/notesSlide11.xml" Id="R2e2211cfb43e48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3c9af0232419b" /><Relationship Type="http://schemas.openxmlformats.org/officeDocument/2006/relationships/notesSlide" Target="/ppt/notesSlides/notesSlide12.xml" Id="R0c2cbd4a38d84e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e88ea32ec4bda" /><Relationship Type="http://schemas.openxmlformats.org/officeDocument/2006/relationships/notesSlide" Target="/ppt/notesSlides/notesSlide13.xml" Id="Re3b717c1b2dc45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2E1A8-70E5-4CD1-8D92-50AB6AA0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C657A-1A57-4E8A-82FF-FD694A3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ac50e62584f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857250"/>
            <a:ext cx="1104900" cy="110490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42268-69C0-4952-A3A1-6C8B4EB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66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3FFF8"/>
                </a:solidFill>
              </a:defRPr>
            </a:pPr>
            <a:r>
              <a:rPr sz="4200" b="1">
                <a:solidFill>
                  <a:srgbClr val="F3FFF8"/>
                </a:solidFill>
              </a:rPr>
              <a:t>微信式个人资料与</a:t>
            </a:r>
          </a:p>
          <a:p xmlns:a="http://schemas.openxmlformats.org/drawingml/2006/main">
            <a:pPr algn="l">
              <a:defRPr sz="4200" b="1">
                <a:solidFill>
                  <a:srgbClr val="F3FFF8"/>
                </a:solidFill>
              </a:defRPr>
            </a:pPr>
            <a:r>
              <a:rPr sz="4200" b="1">
                <a:solidFill>
                  <a:srgbClr val="F3FFF8"/>
                </a:solidFill>
              </a:rPr>
              <a:t>聊天记录管理系统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EB4FA-D957-4572-B01E-990EAAED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E68A"/>
                </a:solidFill>
              </a:defRPr>
            </a:pPr>
            <a:r>
              <a:rPr sz="1950" b="1">
                <a:solidFill>
                  <a:srgbClr val="20E68A"/>
                </a:solidFill>
              </a:rPr>
              <a:t>数据库课程设计课堂展示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E746D-3FB4-4E7E-9C5F-5FF34131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7AD"/>
                </a:solidFill>
              </a:defRPr>
            </a:pPr>
            <a:r>
              <a:rPr sz="1500" b="0">
                <a:solidFill>
                  <a:srgbClr val="9CB7AD"/>
                </a:solidFill>
              </a:rPr>
              <a:t>Python Flask + MySQL + 前后端分离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179d69eb4264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1028700"/>
            <a:ext cx="4143375" cy="25908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11BAA-5381-4E41-9E0F-8D4DA28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4286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F5B4C-E0B8-42CB-9E36-F800EDA5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1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80968-A507-48FD-8A8C-7DAB854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微信式资料 / 朋友圈 / 聊天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A316F-BE51-4A1F-922C-051D2B40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EC923-43D3-42B8-AB01-AB6A8D5D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148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MySQL 管理社交关系与历史记录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57DBE-1548-4A11-AA1E-1D990C42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9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CB97A-99A3-414C-827C-F6028EC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339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功能展示 + 数据库设计 + 统计查询</a:t>
            </a:r>
          </a:p>
        </p:txBody>
      </p:sp>
    </p:spTree>
    <p:extLst>
      <p:ext uri="{BB962C8B-B14F-4D97-AF65-F5344CB8AC3E}">
        <p14:creationId xmlns:p14="http://schemas.microsoft.com/office/powerpoint/2010/main" val="19949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E18BA-E837-41A4-A193-CA7B331A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C340C-7AA7-4918-A244-4A109E70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278BB-7681-47FC-8100-04D483ED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CATALOG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EDFA8-885E-42FE-90FF-1EC068C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CCC53-66D9-4040-894E-8BA4D87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按示例 PPT 的课程汇报习惯组织：先讲系统，再讲数据库，最后讲实现。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1A443-7FC0-433E-AE69-1F7002D6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6CB2-1C99-4AFB-8C50-F724B11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6AC47-4013-419A-BA38-6F826E17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14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系统背景与需求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D6766-EEC8-411F-B80E-09E6BA4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62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为什么选择微信式个人资料、聊天和朋友圈管理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51FEF-F1BE-4396-BB09-14416DB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A8938-A4A3-4902-A037-FFC0F71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5365B-3180-4649-A964-E66F48A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38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功能模块与业务流程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E55E9-A16A-42A3-A4B9-5EC9504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860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资料、好友、权限、聊天、朋友圈、统计如何串起来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7F140-B479-4205-B567-E3875CE5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32E6D-2129-41C3-A071-CAFBD143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C7855-E773-463E-8EA1-FB3A9D0B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系统页面展示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7AB14-7871-4F09-9040-267FABD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用真实运行截图展示关键模块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72708-DBDF-42EF-952F-52B99F5F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B29D7-F202-4AE6-912E-541FEFAE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F8C3F-8980-476A-9380-1D5A9FC0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数据库设计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451A4-0E06-4B6A-97DF-34A6FC5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338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ER 关系、核心表、约束、索引、视图、过程、触发器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F5EE3-F30F-4569-8C0D-08665227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195D4-994D-4B5F-8B09-6A500E34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5D6F4-2F9F-4F5F-8E55-03143AF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技术实现与总结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6911C-3DF9-4E78-9CBC-7CAEC70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577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Python + Flask + MySQL 的实现方式与演示路线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C3167-3EF5-4060-A36A-BEC8BEB3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BB02D-A9A6-48D1-98DE-1BD215B7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555A8-55E2-461D-886E-6CB478AA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7703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1D7A0-D81B-4B58-8567-B4B84784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65572-F060-44AE-B7D7-28532194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13603-6944-49EA-8014-099DDA17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01 REQUIREMENT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2B8BA-4742-4A4B-BD96-C00135FC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系统背景与需求定位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832B1-EA2C-4475-805E-0E2AAD1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微信式社交系统天然包含用户、关系、权限、内容、历史记录等数据库核心对象。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255F5-6E45-4BBC-8F95-4A070B13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C90D6-6C46-43C6-970F-B69957F2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63A60-7B84-4422-9330-8094E1A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FF8"/>
                </a:solidFill>
              </a:defRPr>
            </a:pPr>
            <a:r>
              <a:rPr sz="2100" b="1">
                <a:solidFill>
                  <a:srgbClr val="F3FFF8"/>
                </a:solidFill>
              </a:rPr>
              <a:t>系统要解决的问题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A2CD8-0C3E-45BE-A78A-DAB9B85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B635B-AFB4-4247-8967-0024313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统一管理资料、好友和聊天记录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2FEC4-4B62-47AF-AE8A-6667364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D7130-8A3B-4ACC-B8F6-F240B18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记录朋友圈图片、位置和互动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F3A17-F951-4BFC-B0CE-0616E3AD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8914F-498B-4AC4-903F-F8321935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权限配置进入数据库约束与统计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17D5B-91CC-46CD-AB09-02693CBC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8A5B8-BEDD-440C-B3A8-C22AF4B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用可运行界面支撑课堂演示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CE35D-CB6C-4619-8358-7923D9E2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68A"/>
                </a:solidFill>
              </a:defRPr>
            </a:pPr>
            <a:r>
              <a:rPr sz="2400" b="1">
                <a:solidFill>
                  <a:srgbClr val="20E68A"/>
                </a:solidFill>
              </a:rPr>
              <a:t>系统目标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3C619-7C74-4915-B501-DB364BD7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4381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FF8"/>
                </a:solidFill>
              </a:defRPr>
            </a:pPr>
            <a:r>
              <a:rPr sz="1800" b="0">
                <a:solidFill>
                  <a:srgbClr val="F3FFF8"/>
                </a:solidFill>
              </a:rPr>
              <a:t>以 MySQL 为核心，构建一个微信式个人资料与聊天记录管理系统，完成资料维护、好友管理、权限设置、聊天记录、朋友圈发布互动和统计查询。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92303-B20F-477A-8793-63AC1953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29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课程定位：自选题目 + 主流 DBMS + 高级程序设计语言 + 完整应用系统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A399D-CBC8-48F1-BDB3-DCD1E00F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7C89C-6FA9-4312-BC48-B27FB94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262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AE49A-1B15-4387-92A8-160D5B04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11B5C-50AC-4A53-9AB3-6804383A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9C0EF-5F38-44DE-8C57-4E2F2B3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02 FUNCTION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BD2AB-8695-4975-AEE7-73E037F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系统功能模块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ADBCC-A2BB-4AA8-983D-4D48C231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系统围绕用户社交数据，拆分为五个核心模块和一个统计模块。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D9E4B-8B5F-4A14-9E28-90B3FD1B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A6D4A-A526-4E6B-B12E-643B8BF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3028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84322-9B4A-4605-A24E-2AEBA0FC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FF8"/>
                </a:solidFill>
              </a:defRPr>
            </a:pPr>
            <a:r>
              <a:rPr sz="1950" b="1">
                <a:solidFill>
                  <a:srgbClr val="F3FFF8"/>
                </a:solidFill>
              </a:rPr>
              <a:t>个人资料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361F8-0904-4B6C-A732-ABC59FB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账号、昵称、头像、地区、签名、单人朋友圈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9C5DE-3275-44E7-8F3C-2BAA73E6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028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FB0CE-AA8B-4197-A469-638D3BEC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FF8"/>
                </a:solidFill>
              </a:defRPr>
            </a:pPr>
            <a:r>
              <a:rPr sz="1950" b="1">
                <a:solidFill>
                  <a:srgbClr val="F3FFF8"/>
                </a:solidFill>
              </a:rPr>
              <a:t>好友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60E5D-F643-4EAD-822A-CCC6C18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好友列表、备注、星标、申请、账号/手机号搜索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5C86E-C919-4EE0-93CF-89F56052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028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E4B93-955A-4900-A882-E4555BB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FF8"/>
                </a:solidFill>
              </a:defRPr>
            </a:pPr>
            <a:r>
              <a:rPr sz="1950" b="1">
                <a:solidFill>
                  <a:srgbClr val="F3FFF8"/>
                </a:solidFill>
              </a:rPr>
              <a:t>朋友权限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2A2A5-D739-4A40-B101-C66A085B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允许聊天、看我朋友圈、看 TA 朋友圈、拉黑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21C11-0753-47DE-9716-3FCAD7A1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28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FF95A-BF97-4341-980B-0DD48484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FF8"/>
                </a:solidFill>
              </a:defRPr>
            </a:pPr>
            <a:r>
              <a:rPr sz="1950" b="1">
                <a:solidFill>
                  <a:srgbClr val="F3FFF8"/>
                </a:solidFill>
              </a:rPr>
              <a:t>聊天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C0CC8-935C-40E0-853C-5BD8C7E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私聊、群聊、消息发送、历史记录检索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3F49E-C602-43FB-AB3A-B0269C2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3028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3528"/>
          </a:solidFill>
          <a:ln xmlns:a="http://schemas.openxmlformats.org/drawingml/2006/main" w="9525">
            <a:solidFill>
              <a:srgbClr val="11B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49BF6-0920-4CEF-AF01-F073A279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E68A"/>
                </a:solidFill>
              </a:defRPr>
            </a:pPr>
            <a:r>
              <a:rPr sz="1950" b="1">
                <a:solidFill>
                  <a:srgbClr val="20E68A"/>
                </a:solidFill>
              </a:rPr>
              <a:t>朋友圈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0195B-C4FC-4531-BFEF-C287CD0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文字、地点、图片上传、可见范围、点赞评论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40DD3-8261-4CFA-9AE7-0D5E8E6A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3028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6C8DD-170A-4B5A-978B-9469311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FF8"/>
                </a:solidFill>
              </a:defRPr>
            </a:pPr>
            <a:r>
              <a:rPr sz="1950" b="1">
                <a:solidFill>
                  <a:srgbClr val="F3FFF8"/>
                </a:solidFill>
              </a:rPr>
              <a:t>统计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E812F-AAD8-4140-A3AA-DC6297CA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消息排行、互动排行、权限统计、会话活跃度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20BA6-8459-4BE1-BD05-DAF4E20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7AD"/>
                </a:solidFill>
              </a:defRPr>
            </a:pPr>
            <a:r>
              <a:rPr sz="1500" b="0">
                <a:solidFill>
                  <a:srgbClr val="9CB7AD"/>
                </a:solidFill>
              </a:rPr>
              <a:t>这些模块不是孤立页面：好友关系影响聊天许可和朋友圈可见，朋友圈互动与聊天数据又进入统计报表。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63ADF-63AE-449E-B1AB-8BD3262C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63670-4195-4F63-AC21-5604C141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3286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5213E4-A85F-4FCA-A0DB-73D0E28C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23DF3-AFF6-4583-A1E5-75A99476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854E2-CB70-4015-9BC4-09A6047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03 BUSINESS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937CB-8B5B-40E9-A2AA-9AE19EE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代表性业务流程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897BA-9DDA-404A-931A-C92B71E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以“添加好友后聊天并互动朋友圈”为主线，覆盖系统最有代表性的业务链路。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E8A9-E78B-4BF9-B8C0-CCD3E546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EECA-3EE9-42FF-877B-4AA9A4F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5887F-759E-4C1F-A33D-CBF6855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19DE5-467B-4B56-9372-E7AD1F5B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登录系统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1DE84-5820-4D44-8B9A-B036CE8E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57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读取账号与个人资料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83E7-B4EF-4233-B963-B217B37C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0CF1C-2FF5-4ADB-93F2-848472F5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F0C55-9FEC-4CD8-9892-0EB027B0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76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36865-0197-4DA3-A2F9-3D0AF20C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搜索用户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3C54F-124B-43D8-A6D0-CD376C24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按账号或手机号查找非好友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2D3DF-3387-4F66-AB20-62B814BC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05639-2727-4D67-B807-25DDFCA6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6AC9F-94DE-4365-8797-9AA72A2A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76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C8945-31A3-4646-8EC2-61D521D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好友申请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1159B-9D23-48E5-B3E5-7AF78A68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发起、同意或拒绝申请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E20A6-74C9-4A0C-869E-7E7619C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33625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14CAF-F335-4708-8AD7-1DC118A7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4E0A0-E41C-4862-A660-C4D37BFC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76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4B51C-8D12-4F36-A83C-7D9F57AF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权限设置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BA7F1-6E01-4C48-AECF-28D886E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星标、聊天、朋友圈可见范围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50D12-2F8D-4D59-8E40-3D69749F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E4559-0D23-43A9-96C1-77E099BF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D3722-2EA8-49A8-9975-645D506B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打开聊天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5C14E-383F-4D5C-A2E8-E1230881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768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进入私聊或群聊并发送消息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902C0-8B1F-40AF-B1F0-DD41F2E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875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92823-873A-4740-A2B6-FCFE6AD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18F72D-2E1E-4018-9C81-AD516CE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95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B78CF1-081D-44B8-866F-42CA2E3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33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发布朋友圈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A2F700-8647-4BFF-B713-FAD2406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上传图片、地点、可见范围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E7F749-5673-49EB-8EA0-07C3E79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52875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0911E5-CC09-4D89-8DFB-330FF19C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BC7F5-A22B-4E4F-8E5C-16EDFE79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95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476BC9-40F7-40C9-9F24-4CE4E402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33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点赞评论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59CCEF-93E7-4408-8F09-C7D3E0B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768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产生互动记录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3CCB2C-C34F-4415-B9BE-EC1FBE41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52875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4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57B467-DEED-4782-B2B5-CA07BA17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6F"/>
          </a:solidFill>
          <a:ln xmlns:a="http://schemas.openxmlformats.org/drawingml/2006/main" w="9525">
            <a:solidFill>
              <a:srgbClr val="20E6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42017D-A779-4B7F-AD60-244B28F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95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FF8"/>
                </a:solidFill>
              </a:defRPr>
            </a:pPr>
            <a:r>
              <a:rPr sz="1800" b="1">
                <a:solidFill>
                  <a:srgbClr val="F3FFF8"/>
                </a:solidFill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EDB85F-63AA-41E9-B0B4-63A8CD24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33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统计查询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3D4B3E-34E1-4445-8A05-9DA9699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消息、互动、权限、会话统计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4C566D-3250-4AFE-8826-04640FAD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A933AE-274D-406D-9227-18BCFF48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4670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ABF36-9559-486B-B8AD-DCE6F59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173D5-60EE-4301-BC9F-4E9C8785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30703-A7D2-48B9-9950-9A2E9A6D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04 MOMENTS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1CCDA-48CE-4D29-8CA8-19BE06DC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朋友圈是系统的默认主界面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06C0-2A37-4AA8-8DAD-FEB6AC33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朋友圈模块展示文本、图片、位置、点赞评论和可见性，是最能体现社交数据关系的页面。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CD0FF-FDAF-42C2-84ED-AB29347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fbe71cf724732"/>
          <a:stretch xmlns:a="http://schemas.openxmlformats.org/drawingml/2006/main"/>
        </p:blipFill>
        <p:spPr>
          <a:xfrm xmlns:a="http://schemas.openxmlformats.org/drawingml/2006/main">
            <a:off x="769620" y="2000250"/>
            <a:ext cx="7223760" cy="4514850"/>
          </a:xfrm>
          <a:prstGeom xmlns:a="http://schemas.openxmlformats.org/drawingml/2006/main" prst="roundRect">
            <a:avLst>
              <a:gd name="adj" fmla="val 16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62E52-1E52-44E3-AB7A-D15EFFC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724150" cy="2857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E0393-0FDD-42C0-BE98-524FC95A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68A"/>
                </a:solidFill>
              </a:defRPr>
            </a:pPr>
            <a:r>
              <a:rPr sz="2100" b="1">
                <a:solidFill>
                  <a:srgbClr val="20E68A"/>
                </a:solidFill>
              </a:rPr>
              <a:t>展示点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0A822-3A8D-42E2-87AB-56F74276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06A3B-2B09-40D6-A864-950C4785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发布文字、地点和图片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D367F-61EC-459F-9B3D-B266BF18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96655-D6C7-4C23-9E66-C6834BE4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433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多图按张数动态排版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B0E2C-0B75-4BCE-893E-B7412E8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143C7-884A-4E39-B0A6-7FE1F71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点赞和评论记录入库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38FEC-1F5F-41D0-82FD-E9F35D0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29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87B8D-3F1F-4662-9A3B-88C4804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434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支持个人单人朋友圈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AD4EF-A367-4D78-8B7E-C4CCF0A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26075-8F6F-4193-A81B-E261EA8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22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8121A-39ED-4D75-A594-0602AFD9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EA524-B9CA-4310-86F2-0D896F6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3257D-D686-447F-8525-42EC713E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05 FRIENDS AND PERMISSIONS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DAD28-F68B-46D3-82D2-904A32E3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好友与权限承载社交关系规则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6AFEE-4678-4BCD-9980-0888EC5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好友列表不仅展示联系人，还展示星标、最近朋友圈、权限设置和右侧 mini 聊天入口。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413D5-82D3-4BF3-A994-A63CE22C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984295248415f"/>
          <a:stretch xmlns:a="http://schemas.openxmlformats.org/drawingml/2006/main"/>
        </p:blipFill>
        <p:spPr>
          <a:xfrm xmlns:a="http://schemas.openxmlformats.org/drawingml/2006/main">
            <a:off x="762000" y="2038350"/>
            <a:ext cx="6858000" cy="4286250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7F684-1F9E-4DC6-AF5E-F6B1FD6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7A946-7C34-417C-9782-BF96E47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星标朋友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DF4EC-3F6B-4104-A573-2B60623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好友列表上的星星可直接点击添加或取消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5763B-59E7-4964-B976-8AD7158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7D3B1-A662-4E0C-92CE-D68F480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权限管理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D2810-3178-48BA-8E07-E5B98BC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聊天许可、朋友圈可见、拉黑等规则集中管理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B42D0-6FBA-4B18-9B74-A473FD7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43489-EBDA-4D86-882B-73FAFC4F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搜索申请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C12D0-4FD5-45F7-9E16-B5042AE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非好友只支持账号或手机号检索，避免昵称误搜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4C0AF-3786-4DEF-8ABE-3E8BA2D2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7F7EF-4E6A-446C-9BD0-F54AF4B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6636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FACC2-0E20-4E46-AD0A-D3E721A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36FCC-A578-44BD-BF5C-964DEE3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0CF5-CB3B-4C7E-B509-5CFBBE06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06 CHAT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165FE-ADA2-473C-B193-3A688A9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聊天模块突出记录管理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38E7C-90DB-47C7-B2BD-4DBCE30E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聊天页按会话组织消息，并把聊天记录检索放入右侧抽屉，符合用户真实查找习惯。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76F8F-4073-4995-9FA8-31A2509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b2a758f44d71"/>
          <a:stretch xmlns:a="http://schemas.openxmlformats.org/drawingml/2006/main"/>
        </p:blipFill>
        <p:spPr>
          <a:xfrm xmlns:a="http://schemas.openxmlformats.org/drawingml/2006/main">
            <a:off x="781050" y="2038350"/>
            <a:ext cx="7010400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FF888-BCC6-483B-94E8-91E21B15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278130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83174-83BC-48F6-BAA6-B622C01A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68A"/>
                </a:solidFill>
              </a:defRPr>
            </a:pPr>
            <a:r>
              <a:rPr sz="2100" b="1">
                <a:solidFill>
                  <a:srgbClr val="20E68A"/>
                </a:solidFill>
              </a:rPr>
              <a:t>模块能力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BFD8B-73B3-403F-9949-B08A860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EB992-506B-4C41-ACD3-554BE7F2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点击会话直接打开聊天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F9610-E04C-4382-8860-293233E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A1D2F-52AF-4C69-9FB6-3D391209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814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消息通过存储过程写入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8F50A-1C67-42F4-BD57-CE8F5779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6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3E8D0-70E7-4864-9E77-0F391DF9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814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关键词检索历史记录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4C082-4A7C-4372-9C4A-C57BAD8F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81067-6049-44EF-BF49-DBE14D7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私聊与群聊统一建模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F3C54-698E-4E7D-8127-13601A25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ADC63-BE22-4010-9536-63BDC52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1876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EEA5C-B56F-48D8-BE73-F0A99B8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7600D-4BDD-4C00-A537-72C7370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9EA0F-D044-409E-B361-F190ABA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07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9DA99-9088-4B6A-9BE3-66F0CDFB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个人资料页连接用户与单人朋友圈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7DADD-8767-4A6B-AF7D-B02350C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资料页展示账号基础信息，并能从头像或用户名跳转到 TA 的资料和单人朋友圈。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CF08D-D65B-4D7D-A334-E3B0F459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6026a8d9f4514"/>
          <a:stretch xmlns:a="http://schemas.openxmlformats.org/drawingml/2006/main"/>
        </p:blipFill>
        <p:spPr>
          <a:xfrm xmlns:a="http://schemas.openxmlformats.org/drawingml/2006/main">
            <a:off x="819150" y="2038350"/>
            <a:ext cx="7010400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E19CB-1186-4F91-8C50-51A7359C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5908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67428-5541-471B-80DD-5FF56D5C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68A"/>
                </a:solidFill>
              </a:defRPr>
            </a:pPr>
            <a:r>
              <a:rPr sz="2100" b="1">
                <a:solidFill>
                  <a:srgbClr val="20E68A"/>
                </a:solidFill>
              </a:rPr>
              <a:t>资料模块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CF6AC-9FE7-4343-A98F-E09493D0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C8A24-1577-4574-9DFD-BDD09E1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本人资料可编辑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7BE2F-1D2B-4D83-840D-9E8D67F4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24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3198A-C7C3-40EA-BDC2-0AF1D7C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他人资料可查看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231A3-D752-4BFD-BFD4-B94098DB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51079-7F54-40C0-8D37-23CB1249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头像点击跳转资料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F2E87-FD26-4254-833A-D059EDD6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07739-103E-4A46-BFC7-A2674C0E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资料页进入单人朋友圈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5B8D0-8692-4BAF-B49B-E7562BE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DCC19-E8B9-413C-B77C-552719B8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6303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59D6AF-5EFF-4DBA-B520-DC84101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9197-20E9-4FE7-A4C3-6ABD66E3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7A7E4-22AE-4963-A0A0-049E03F9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08 DATABASE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12332-270B-4D4F-A8FD-E80629B2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数据库设计以社交关系为核心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B0F4-4400-4F0F-A732-5D8E5F7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核心表围绕用户、好友、会话、消息、朋友圈和互动展开。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515D1-45BA-4BCF-BC55-D5D235ED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5B019-2471-4258-98A9-020F2B90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用户资料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4C55C-BDEE-42C3-8576-17F7D58D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050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FF8"/>
                </a:solidFill>
              </a:defRPr>
            </a:pPr>
            <a:r>
              <a:rPr sz="1275" b="0">
                <a:solidFill>
                  <a:srgbClr val="F3FFF8"/>
                </a:solidFill>
              </a:rPr>
              <a:t>users / user_profiles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FBB64-C20A-49F7-8885-B67F641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050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账号与个人资料一对一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C37EB-2CD6-483E-9633-7B165EFD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3E39F-7580-4C53-85A2-C898E91F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好友权限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3C8E0-00DE-449B-AA3C-92BF04C2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289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FF8"/>
                </a:solidFill>
              </a:defRPr>
            </a:pPr>
            <a:r>
              <a:rPr sz="1275" b="0">
                <a:solidFill>
                  <a:srgbClr val="F3FFF8"/>
                </a:solidFill>
              </a:rPr>
              <a:t>friendships / friend_tags / friend_tag_members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FA927-3C58-4193-A9B1-C5A3F116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289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好友关系、备注、星标、权限、标签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871C2-E8E4-461E-A2CB-A5C7DE0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B6BBD-310F-4D5F-9716-2B4A98D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聊天记录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D9626-630A-45BC-90F5-2C475DE1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528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FF8"/>
                </a:solidFill>
              </a:defRPr>
            </a:pPr>
            <a:r>
              <a:rPr sz="1275" b="0">
                <a:solidFill>
                  <a:srgbClr val="F3FFF8"/>
                </a:solidFill>
              </a:rPr>
              <a:t>conversations / conversation_members / messages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9EFE2-5517-4E29-8342-BE35D2F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52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会话成员和消息内容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5DC38-6A40-4EA6-96D9-C5316266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A7CD3-2D6F-4AC5-9437-9A7485D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朋友圈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0DA3D-6562-411E-8C3E-CDF127B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767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FF8"/>
                </a:solidFill>
              </a:defRPr>
            </a:pPr>
            <a:r>
              <a:rPr sz="1275" b="0">
                <a:solidFill>
                  <a:srgbClr val="F3FFF8"/>
                </a:solidFill>
              </a:rPr>
              <a:t>moment_posts / moment_media / moment_visibility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F0997-5F18-40A3-9BF9-10B438E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767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动态、图片、位置和可见范围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0EA58-AD43-4A43-88C9-D3260D7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6E32E-B897-4CE5-B984-16C7651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互动审计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36C40-DD74-43BD-A89C-F9438AF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006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FF8"/>
                </a:solidFill>
              </a:defRPr>
            </a:pPr>
            <a:r>
              <a:rPr sz="1275" b="0">
                <a:solidFill>
                  <a:srgbClr val="F3FFF8"/>
                </a:solidFill>
              </a:rPr>
              <a:t>moment_likes / moment_comments / audit_logs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CD9E2-5718-46F3-A743-7AA6D25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B7AD"/>
                </a:solidFill>
              </a:defRPr>
            </a:pPr>
            <a:r>
              <a:rPr sz="1275" b="0">
                <a:solidFill>
                  <a:srgbClr val="9CB7AD"/>
                </a:solidFill>
              </a:rPr>
              <a:t>点赞、评论、审计日志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A5B2F-3E98-4D01-BB2E-0C7AA95F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BBB1E4-F85A-451E-9349-17FB907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53100"/>
            <a:ext cx="1466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F1B"/>
          </a:solidFill>
          <a:ln xmlns:a="http://schemas.openxmlformats.org/drawingml/2006/main" w="9525">
            <a:solidFill>
              <a:srgbClr val="193F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99D20-7356-4919-BA7C-200E1E3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674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E68A"/>
                </a:solidFill>
              </a:defRPr>
            </a:pPr>
            <a:r>
              <a:rPr sz="2550" b="1">
                <a:solidFill>
                  <a:srgbClr val="20E68A"/>
                </a:solidFill>
              </a:rPr>
              <a:t>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32908B-4055-434A-8B8F-E5C243A9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484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数据表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32C6D7-41E4-4A7B-BEAB-D7796C55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53100"/>
            <a:ext cx="1466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F1B"/>
          </a:solidFill>
          <a:ln xmlns:a="http://schemas.openxmlformats.org/drawingml/2006/main" w="9525">
            <a:solidFill>
              <a:srgbClr val="193F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BAC36E-35C2-4B5F-A4FE-6E38A671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674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1FF"/>
                </a:solidFill>
              </a:defRPr>
            </a:pPr>
            <a:r>
              <a:rPr sz="2550" b="1">
                <a:solidFill>
                  <a:srgbClr val="45D1FF"/>
                </a:solidFill>
              </a:rPr>
              <a:t>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E1D8A-BE37-43F1-B028-BBB8889F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2484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外键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2B3005-4181-4B22-9FED-0B454AF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53100"/>
            <a:ext cx="1466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F1B"/>
          </a:solidFill>
          <a:ln xmlns:a="http://schemas.openxmlformats.org/drawingml/2006/main" w="9525">
            <a:solidFill>
              <a:srgbClr val="193F3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C24F1-C011-4FEB-9AC4-D36A526A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674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D166"/>
                </a:solidFill>
              </a:defRPr>
            </a:pPr>
            <a:r>
              <a:rPr sz="2550" b="1">
                <a:solidFill>
                  <a:srgbClr val="FFD166"/>
                </a:solidFill>
              </a:rPr>
              <a:t>43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DC401-4438-4267-BCF7-B7481803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2484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索引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B6E18E-5FBA-42FA-A650-F85A3F76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753100"/>
            <a:ext cx="2038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F1B"/>
          </a:solidFill>
          <a:ln xmlns:a="http://schemas.openxmlformats.org/drawingml/2006/main" w="9525">
            <a:solidFill>
              <a:srgbClr val="193F3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F4E675-A275-4B10-99CD-142537A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674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E68A"/>
                </a:solidFill>
              </a:defRPr>
            </a:pPr>
            <a:r>
              <a:rPr sz="2550" b="1">
                <a:solidFill>
                  <a:srgbClr val="20E68A"/>
                </a:solidFill>
              </a:rPr>
              <a:t>3/2/2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82DD24-5FEC-4022-B89C-ED98E97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24840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B7AD"/>
                </a:solidFill>
              </a:defRPr>
            </a:pPr>
            <a:r>
              <a:rPr sz="1125" b="0">
                <a:solidFill>
                  <a:srgbClr val="9CB7AD"/>
                </a:solidFill>
              </a:rPr>
              <a:t>视图/过程/触发器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BAABEE-34F7-4384-AA0D-975F2DA9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662938-68C8-4CC1-B324-A67055A7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1328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27E34-1F80-481A-981E-DB3B43C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EB3E2-1988-4735-9547-ED288A6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3B747-5660-41BD-8EA2-53DDDB89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09 STATISTICS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878E8-1C35-4B65-9C32-AA3AD40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统计功能直接服务课堂演示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1F387-843B-4660-B371-7434AC6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系统提供 4 类统计查询，覆盖原要求中的“至少 3 个统计功能”。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EE0CC-592B-4BFA-985A-8E1D32A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98387e9764ac3"/>
          <a:stretch xmlns:a="http://schemas.openxmlformats.org/drawingml/2006/main"/>
        </p:blipFill>
        <p:spPr>
          <a:xfrm xmlns:a="http://schemas.openxmlformats.org/drawingml/2006/main">
            <a:off x="811530" y="2038350"/>
            <a:ext cx="6949440" cy="4343400"/>
          </a:xfrm>
          <a:prstGeom xmlns:a="http://schemas.openxmlformats.org/drawingml/2006/main" prst="roundRect">
            <a:avLst>
              <a:gd name="adj" fmla="val 175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C602C-BFA9-48F7-B181-AB50DD44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消息排行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1EA60-A498-4464-84EF-70EDF90F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按用户统计发送消息数量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C29C9-B430-4D38-946B-5B0B8641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朋友圈互动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A1DF9-DFAC-4CD5-AB84-B035F633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按动态统计点赞和评论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DCBF1-2BEE-413B-BA25-A8891CE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权限统计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40CBC-20AB-4962-84D9-BB1E748C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汇总好友权限分布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F4656-048A-4C9D-8EA2-37897345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68A"/>
                </a:solidFill>
              </a:defRPr>
            </a:pPr>
            <a:r>
              <a:rPr sz="1800" b="1">
                <a:solidFill>
                  <a:srgbClr val="20E68A"/>
                </a:solidFill>
              </a:rPr>
              <a:t>会话活跃度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33600-0860-482D-8A69-F8DD988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按会话统计消息数量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505F5-F4DD-4957-9EB8-0AAAF904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1534F-44D8-4188-A370-5ECDFF8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9742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66C1E-1819-4BC2-A4BA-0698C2A5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380D9-E36D-41AA-9520-98CE6254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60B33-28A6-43F1-AE92-A25806F9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10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CC36F-835A-41EB-9A60-F5A13810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技术选择与运行方式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3D689-F9EB-4270-868D-EDFCE6C3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系统采用前后端分离结构，后端用 Python 操作 MySQL，前端负责微信式交互体验。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937E5-807F-460C-8B36-5E5C7BDF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44AFD-F0BD-42B9-84C9-F03A534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7813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15FBF-E0A1-4C1D-B798-0CD2E220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68A"/>
                </a:solidFill>
              </a:defRPr>
            </a:pPr>
            <a:r>
              <a:rPr sz="2400" b="1">
                <a:solidFill>
                  <a:srgbClr val="20E68A"/>
                </a:solidFill>
              </a:rPr>
              <a:t>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978D1-25B6-4EA9-8EB6-5AE84C4A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HTML / CSS /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024D7-EB60-4BA1-A625-164135E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暗色微信式界面、侧栏导航、图片预览、聊天抽屉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93118-4FCD-453B-B929-22D0AC5C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0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6E028-ADB8-4ED9-B808-BA07E7B6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27813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3226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AF5C1-5B53-4D34-831F-52870F98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68A"/>
                </a:solidFill>
              </a:defRPr>
            </a:pPr>
            <a:r>
              <a:rPr sz="2400" b="1">
                <a:solidFill>
                  <a:srgbClr val="20E68A"/>
                </a:solidFill>
              </a:rPr>
              <a:t>后端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45790-3E31-40E0-89BC-5940DE9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Python Flask + PyMySQL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DF9D2-21B9-4A9C-8CD1-B99238F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REST API、上传服务、资料/好友/聊天/朋友圈/统计接口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64D5B-74C7-43D3-9050-36E14F30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0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96507-7FFA-4065-8529-7DE06355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27813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BD884-2001-4D62-8BB6-74F2ABF2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68A"/>
                </a:solidFill>
              </a:defRPr>
            </a:pPr>
            <a:r>
              <a:rPr sz="2400" b="1">
                <a:solidFill>
                  <a:srgbClr val="20E68A"/>
                </a:solidFill>
              </a:rPr>
              <a:t>数据库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DC0BD-3255-422B-B9CD-7D69B44A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FF8"/>
                </a:solidFill>
              </a:defRPr>
            </a:pPr>
            <a:r>
              <a:rPr sz="1575" b="1">
                <a:solidFill>
                  <a:srgbClr val="F3FFF8"/>
                </a:solidFill>
              </a:rPr>
              <a:t>MySQL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6A1C5-4623-44FB-B513-653BEF9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B7AD"/>
                </a:solidFill>
              </a:defRPr>
            </a:pPr>
            <a:r>
              <a:rPr sz="1200" b="0">
                <a:solidFill>
                  <a:srgbClr val="9CB7AD"/>
                </a:solidFill>
              </a:rPr>
              <a:t>主外键、唯一约束、索引、视图、触发器、存储过程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EA4F5-4729-45B8-9B26-F6E065EE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运行演示：启动 backend/api_server.py，前端访问 http://127.0.0.1:8000，DBeaver 可连接 wechat_course_design 查看表和数据。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9F2E2-9A02-4E33-94A5-2107393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6D95F-4715-4B07-9F23-C3E2248B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2442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2AA6A-95E0-4456-A542-0AC35F8F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9F444-B4C3-4825-95D6-E02B0C1C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D1CC8-BAE2-472E-9B68-8C6F618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E68A"/>
                </a:solidFill>
              </a:defRPr>
            </a:pPr>
            <a:r>
              <a:rPr sz="1050" b="1">
                <a:solidFill>
                  <a:srgbClr val="20E68A"/>
                </a:solidFill>
              </a:rPr>
              <a:t>11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D6E1-F35F-4A4B-966F-629D6EF8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FF8"/>
                </a:solidFill>
              </a:defRPr>
            </a:pPr>
            <a:r>
              <a:rPr sz="2850" b="1">
                <a:solidFill>
                  <a:srgbClr val="F3FFF8"/>
                </a:solidFill>
              </a:rPr>
              <a:t>系统完成情况与展示重点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3B293-8AA2-4422-B759-86A41F8F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B7AD"/>
                </a:solidFill>
              </a:defRPr>
            </a:pPr>
            <a:r>
              <a:rPr sz="1350" b="0">
                <a:solidFill>
                  <a:srgbClr val="9CB7AD"/>
                </a:solidFill>
              </a:rPr>
              <a:t>本系统已经从数据库设计、业务流程和 Web 界面三个层面形成完整课程设计作品。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D2D1C-838E-4E98-A788-5B23D765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9"/>
          </a:solidFill>
          <a:ln xmlns:a="http://schemas.openxmlformats.org/drawingml/2006/main" w="0">
            <a:solidFill>
              <a:srgbClr val="3153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BD90A-27FF-4325-8A1B-7EB52679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743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245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432AE-60FC-41A8-B76E-6AEE5026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EB2BB-0845-42CF-A971-82266455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F6F01-7B44-4D54-A264-6532EB5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以 MySQL 为核心，完成 14 张表和完整关系设计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A5EC4-22EA-4201-964B-8CB0767F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9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97BA6-8455-4F17-BC1D-4D17B6D0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实现资料、好友、权限、聊天、朋友圈、统计六大模块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127E3-03CF-4AC4-9F14-8A1B4C6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3C8CF-E54B-425A-96EB-9E87C41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支持图片上传、星标好友、聊天检索、单人朋友圈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0B520-7FAF-4244-8717-F7B5292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8304A-C50A-4FC8-AC86-38F39EFB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可用真实页面和 DBeaver 数据库共同展示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7548C-89C5-4C54-B8DB-5892D49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000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D24"/>
          </a:solidFill>
          <a:ln xmlns:a="http://schemas.openxmlformats.org/drawingml/2006/main" w="9525">
            <a:solidFill>
              <a:srgbClr val="2F63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D57E2-CFFD-4EED-90BE-68AE494F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E68A"/>
                </a:solidFill>
              </a:defRPr>
            </a:pPr>
            <a:r>
              <a:rPr sz="2250" b="1">
                <a:solidFill>
                  <a:srgbClr val="20E68A"/>
                </a:solidFill>
              </a:rPr>
              <a:t>课堂展示建议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767C0-2FF5-4D1B-8BE1-CF82D5C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28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73157-A389-47A6-AC59-12AFF967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先展示朋友圈默认页建立系统印象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0342C-86F0-4962-8DC8-3D31DCD1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C7A98-BD9E-4791-B6C4-13AE744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81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再演示好友权限与聊天记录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A6F31-37B7-4C5F-B24B-8608C985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DBBA1-98A3-40F4-97C6-C54FAA99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FF8"/>
                </a:solidFill>
              </a:defRPr>
            </a:pPr>
            <a:r>
              <a:rPr sz="1425" b="0">
                <a:solidFill>
                  <a:srgbClr val="F3FFF8"/>
                </a:solidFill>
              </a:rPr>
              <a:t>最后切到统计和数据库对象证明设计深度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88A1F-FA8C-42C8-BCA4-5BA2FB14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68A"/>
                </a:solidFill>
              </a:defRPr>
            </a:pPr>
            <a:r>
              <a:rPr sz="2550" b="1">
                <a:solidFill>
                  <a:srgbClr val="20E68A"/>
                </a:solidFill>
              </a:rPr>
              <a:t>谢谢观看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7048B-40F0-48E2-A6C3-74F256EB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B71"/>
                </a:solidFill>
              </a:defRPr>
            </a:pPr>
            <a:r>
              <a:rPr sz="975" b="0">
                <a:solidFill>
                  <a:srgbClr val="607B71"/>
                </a:solidFill>
              </a:rPr>
              <a:t>微信式个人资料与聊天记录管理系统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948B2-542D-4ECE-B1B2-2682754F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B71"/>
                </a:solidFill>
              </a:defRPr>
            </a:pPr>
            <a:r>
              <a:rPr sz="975" b="1">
                <a:solidFill>
                  <a:srgbClr val="607B7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0302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2026-08-27T13:07:18.5040000Z</dcterms:created>
  <dcterms:modified xsi:type="dcterms:W3CDTF">2026-08-27T13:07:18.5040000Z</dcterms:modified>
</coreProperties>
</file>